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00" r:id="rId2"/>
    <p:sldId id="301" r:id="rId3"/>
    <p:sldId id="302" r:id="rId4"/>
    <p:sldId id="303" r:id="rId5"/>
    <p:sldId id="305" r:id="rId6"/>
    <p:sldId id="306" r:id="rId7"/>
    <p:sldId id="308" r:id="rId8"/>
    <p:sldId id="309" r:id="rId9"/>
    <p:sldId id="311" r:id="rId10"/>
    <p:sldId id="312" r:id="rId11"/>
    <p:sldId id="318" r:id="rId12"/>
    <p:sldId id="319" r:id="rId13"/>
    <p:sldId id="326" r:id="rId14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64"/>
    <p:restoredTop sz="94694"/>
  </p:normalViewPr>
  <p:slideViewPr>
    <p:cSldViewPr snapToGrid="0">
      <p:cViewPr varScale="1">
        <p:scale>
          <a:sx n="105" d="100"/>
          <a:sy n="105" d="100"/>
        </p:scale>
        <p:origin x="11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3F93E-7217-AE40-A4DD-98A7EF3C3F2A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3C0D2B-3B2A-6843-8BB2-DC517C07D24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22306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userDrawn="1">
  <p:cSld name="1_Solo el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74DDCB9-0C14-1109-D8B6-9D58D89E06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57785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9DD9507-B36C-CD78-A925-820B36A1A5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579" y="5539319"/>
            <a:ext cx="2453821" cy="478362"/>
          </a:xfrm>
          <a:prstGeom prst="rect">
            <a:avLst/>
          </a:prstGeom>
        </p:spPr>
      </p:pic>
      <p:sp>
        <p:nvSpPr>
          <p:cNvPr id="7" name="Paralelogramo 6">
            <a:extLst>
              <a:ext uri="{FF2B5EF4-FFF2-40B4-BE49-F238E27FC236}">
                <a16:creationId xmlns:a16="http://schemas.microsoft.com/office/drawing/2014/main" id="{C60AFCCA-D482-C0D2-B5DF-7E2DCC5AF21F}"/>
              </a:ext>
            </a:extLst>
          </p:cNvPr>
          <p:cNvSpPr/>
          <p:nvPr userDrawn="1"/>
        </p:nvSpPr>
        <p:spPr>
          <a:xfrm>
            <a:off x="349321" y="-14555"/>
            <a:ext cx="4378611" cy="513708"/>
          </a:xfrm>
          <a:prstGeom prst="parallelogram">
            <a:avLst/>
          </a:prstGeom>
          <a:solidFill>
            <a:srgbClr val="FFC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3E0E22-15A3-5398-5037-FA11B272837D}"/>
              </a:ext>
            </a:extLst>
          </p:cNvPr>
          <p:cNvSpPr txBox="1"/>
          <p:nvPr userDrawn="1"/>
        </p:nvSpPr>
        <p:spPr>
          <a:xfrm>
            <a:off x="539286" y="57633"/>
            <a:ext cx="3961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i="1" dirty="0">
                <a:solidFill>
                  <a:srgbClr val="2D2D93"/>
                </a:solidFill>
                <a:latin typeface="Montserrat" pitchFamily="2" charset="77"/>
              </a:rPr>
              <a:t>Servicio de Rentas Internas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89225C8-CD6C-7433-6A34-EB63A519A6F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7400" y="5778500"/>
            <a:ext cx="2997200" cy="10795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2F36FC9-505B-A098-BADE-E8CC287F7E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7200" y="1178528"/>
            <a:ext cx="7772400" cy="459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71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1B26F8C-3A77-34DC-52F0-38292DAA0D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249577" cy="69478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0E3DD77-2E3E-2D7F-35D4-D360DC685E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227121" cy="694780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21B5288-8C35-254F-1815-EBF6F14CE6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6410" y="-42071"/>
            <a:ext cx="11151219" cy="703194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5658302-0930-F64F-47BC-FFD1AD47FCA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97400" y="5778500"/>
            <a:ext cx="29972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709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D75EA27-B0AF-6126-9994-0CB4B51B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A090E00-67A4-AB5E-4BCF-D3965102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A6FE85-CF0A-A61B-7166-37BA9CA30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AFB44FF-0BAE-BC6D-2A6C-16401E6BC4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75896"/>
            <a:ext cx="1010400" cy="42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6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AB612CF-9BAF-D60A-C3BC-BAC2682DE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444" y="0"/>
            <a:ext cx="2168978" cy="42696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219E8F2-D5BC-5E4F-B68B-6C12D2EDC6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60354" y="6339696"/>
            <a:ext cx="2632982" cy="518304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05B77C43-0BE0-958E-26E7-C8115C9A69D0}"/>
              </a:ext>
            </a:extLst>
          </p:cNvPr>
          <p:cNvGrpSpPr/>
          <p:nvPr userDrawn="1"/>
        </p:nvGrpSpPr>
        <p:grpSpPr>
          <a:xfrm>
            <a:off x="2663598" y="2388314"/>
            <a:ext cx="6864804" cy="2081373"/>
            <a:chOff x="1373066" y="2643027"/>
            <a:chExt cx="6864804" cy="2081373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BBA4E28-A25A-182F-E9CD-41FB1413CF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73066" y="2806344"/>
              <a:ext cx="5331068" cy="1918056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419BF794-B675-2CD1-2CE2-5DA2646CE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9034" r="5925"/>
            <a:stretch/>
          </p:blipFill>
          <p:spPr>
            <a:xfrm>
              <a:off x="6359121" y="2643027"/>
              <a:ext cx="1878749" cy="20813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18494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7DE1E-0258-A075-C970-1E56A6C29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6AF9BF-1403-4E19-0232-09451852B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152515-F4F1-51C9-BE5A-A8106C23E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7DA65A-5ADA-4957-7F7C-B7918FBBA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514894-A284-E4E5-F3FF-831F0EA38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5989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92782-BEED-D88D-4396-7067ED8CA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EE9F7E-23D6-C3AB-940C-21FC8CF70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C2CC2B-361C-3E42-AD1C-E1F29D492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3AC9F8-D713-D60A-C50F-C1D42BA1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52E9D3-2365-233C-4C36-ED5C14B4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5299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B0511-8BF4-75FB-FEBF-5D3D2D785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E51A95-5BE1-2164-8FE9-2859E9CDB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29CED5-D6B4-EF47-4E0E-A6CD67C4D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21C6D9-10DD-7292-D50C-07FF634D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2DE3BC-DC31-A3FA-CFF5-3268D6C07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85AF61-A67A-DCBA-5D8D-C0C9D6364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9584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C9D2B5-96AE-1614-05A5-29AF4A58A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E97EAF-AFBD-6627-9CBF-47FB242CA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132775-879E-DD76-F035-8E0C16D7C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BC8DC9-FC7E-03DE-6DBB-E222C0EE77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C00D699-1771-8AD4-705F-56AD1CC7CD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25AFEE5-319F-A2AD-E31E-3E4B95525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562BC96-8129-04A7-077D-30B1D895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850C51-FE30-CC3B-0DF8-C0FC80D85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4500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7EAB0-41BF-4711-E5EB-0169309EF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3952A4-99B0-BB43-2129-31DF6B4B7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B0B186-2E7F-A295-A698-63FA1C600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260E8C-DC55-1D75-2F59-880877538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837411-8394-7846-51A2-735BA4B17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27F727-8C63-9E62-3005-D8DE7BD9E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5162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FD4A5-2815-0715-BE6A-ED798C627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CEFC399-02AF-F5DE-EBBB-C091BB2EA7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70B8C7-91BC-E305-3D19-80305D46B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DD55C8-7229-6006-65E0-9F22FC624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A83BA8-C3C0-3678-E05C-A887AE2AD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71B54B-C4AC-A6B5-01FC-BD951F77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8373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2E5E9A-248B-BEE7-E138-94F035A263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96C933-7F79-E5AB-3E6A-4FB1CA391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B58367-8DEE-170B-3EDD-F7B89DC7C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E38E2-8CD1-214B-8036-CC600787765A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5FA7B5-431A-0B38-0BFC-DD198E627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C45648-E844-F7F9-3B5C-1755CB2E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8834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4ADFCD2-7EA4-D8B1-644E-6B1D3239A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634A4B-6143-6207-279D-2E105AE5D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907B03-9DC8-2F4D-C2E2-9CAA2F105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E38E2-8CD1-214B-8036-CC600787765A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488A29-2FC1-F693-B753-3254BD88B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F70BCB-741F-80A7-530D-E445A52815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0AC17-E518-6942-9915-53B51B2DAB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73338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4" r:id="rId2"/>
    <p:sldLayoutId id="2147483655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6" r:id="rId9"/>
    <p:sldLayoutId id="2147483657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753834" y="1787979"/>
            <a:ext cx="3809022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32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Barlow Condensed Medium"/>
                <a:cs typeface="Arial" panose="020B0604020202020204" pitchFamily="34" charset="0"/>
                <a:sym typeface="Barlow Condensed Medium"/>
              </a:rPr>
              <a:t>Sistema de Gestión de Anexos (GAN)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Subtitulo"/>
          <p:cNvSpPr txBox="1"/>
          <p:nvPr/>
        </p:nvSpPr>
        <p:spPr>
          <a:xfrm>
            <a:off x="753835" y="3550000"/>
            <a:ext cx="8637053" cy="9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s-EC" sz="1600" dirty="0">
                <a:solidFill>
                  <a:schemeClr val="lt1"/>
                </a:solidFill>
                <a:latin typeface="Arial"/>
              </a:rPr>
              <a:t>Transferencia de Conocimiento - Frontend, </a:t>
            </a:r>
            <a:r>
              <a:rPr lang="es-EC" sz="1600" dirty="0" err="1">
                <a:solidFill>
                  <a:schemeClr val="lt1"/>
                </a:solidFill>
                <a:latin typeface="Arial"/>
              </a:rPr>
              <a:t>Backend</a:t>
            </a:r>
            <a:r>
              <a:rPr lang="es-EC" sz="1600" dirty="0">
                <a:solidFill>
                  <a:schemeClr val="lt1"/>
                </a:solidFill>
                <a:latin typeface="Arial"/>
              </a:rPr>
              <a:t>, SSO e integración con microservicios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Temas de la capacitación</a:t>
            </a:r>
          </a:p>
        </p:txBody>
      </p:sp>
      <p:sp>
        <p:nvSpPr>
          <p:cNvPr id="10" name="Cuerpo 10"/>
          <p:cNvSpPr txBox="1"/>
          <p:nvPr/>
        </p:nvSpPr>
        <p:spPr>
          <a:xfrm>
            <a:off x="1010400" y="1050000"/>
            <a:ext cx="10171200" cy="51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Visión general del sistema</a:t>
            </a:r>
          </a:p>
          <a:p>
            <a:pPr marL="228600" indent="-228600">
              <a:buFont typeface="Arial"/>
              <a:buChar char="•"/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Arquitectura general del ecosistema</a:t>
            </a:r>
          </a:p>
          <a:p>
            <a:pPr marL="228600" indent="-228600">
              <a:buFont typeface="Arial"/>
              <a:buChar char="•"/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Frontend: </a:t>
            </a:r>
            <a:r>
              <a:rPr lang="es-EC" sz="1600" dirty="0">
                <a:solidFill>
                  <a:srgbClr val="202020"/>
                </a:solidFill>
                <a:latin typeface="Arial"/>
              </a:rPr>
              <a:t>C</a:t>
            </a:r>
            <a:r>
              <a:rPr lang="es-EC" sz="1600" b="0" dirty="0">
                <a:solidFill>
                  <a:srgbClr val="202020"/>
                </a:solidFill>
                <a:latin typeface="Arial"/>
              </a:rPr>
              <a:t>ore del sistema</a:t>
            </a:r>
          </a:p>
          <a:p>
            <a:pPr marL="228600" indent="-228600">
              <a:buFont typeface="Arial"/>
              <a:buChar char="•"/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Módulo de plantilla y aprobación </a:t>
            </a:r>
            <a:r>
              <a:rPr lang="es-EC" sz="1600" dirty="0">
                <a:solidFill>
                  <a:srgbClr val="202020"/>
                </a:solidFill>
                <a:latin typeface="Arial"/>
              </a:rPr>
              <a:t>(</a:t>
            </a:r>
            <a:r>
              <a:rPr lang="es-EC" sz="1600" dirty="0" err="1">
                <a:solidFill>
                  <a:srgbClr val="202020"/>
                </a:solidFill>
                <a:latin typeface="Arial"/>
              </a:rPr>
              <a:t>frontend</a:t>
            </a:r>
            <a:r>
              <a:rPr lang="es-EC" sz="1600" dirty="0">
                <a:solidFill>
                  <a:srgbClr val="202020"/>
                </a:solidFill>
                <a:latin typeface="Arial"/>
              </a:rPr>
              <a:t> y </a:t>
            </a:r>
            <a:r>
              <a:rPr lang="es-EC" sz="1600" dirty="0" err="1">
                <a:solidFill>
                  <a:srgbClr val="202020"/>
                </a:solidFill>
                <a:latin typeface="Arial"/>
              </a:rPr>
              <a:t>backend</a:t>
            </a:r>
            <a:r>
              <a:rPr lang="es-EC" sz="1600" dirty="0">
                <a:solidFill>
                  <a:srgbClr val="202020"/>
                </a:solidFill>
                <a:latin typeface="Arial"/>
              </a:rPr>
              <a:t>)</a:t>
            </a:r>
            <a:endParaRPr lang="es-EC" sz="1600" b="0" dirty="0">
              <a:solidFill>
                <a:srgbClr val="202020"/>
              </a:solidFill>
              <a:latin typeface="Arial"/>
            </a:endParaRPr>
          </a:p>
          <a:p>
            <a:pPr marL="228600" indent="-228600">
              <a:buFont typeface="Arial"/>
              <a:buChar char="•"/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SSO, Keycloak y esquema </a:t>
            </a:r>
            <a:r>
              <a:rPr lang="es-EC" sz="1600" b="0" dirty="0" err="1">
                <a:solidFill>
                  <a:srgbClr val="202020"/>
                </a:solidFill>
                <a:latin typeface="Arial"/>
              </a:rPr>
              <a:t>bearer-only</a:t>
            </a:r>
            <a:endParaRPr lang="es-EC" sz="1600" b="0" dirty="0">
              <a:solidFill>
                <a:srgbClr val="20202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0188-863E-B4DF-9583-26376E48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elogramo 1">
            <a:extLst>
              <a:ext uri="{FF2B5EF4-FFF2-40B4-BE49-F238E27FC236}">
                <a16:creationId xmlns:a16="http://schemas.microsoft.com/office/drawing/2014/main" id="{A2ABDF0C-3B02-1F90-DF2A-3726AD73EA58}"/>
              </a:ext>
            </a:extLst>
          </p:cNvPr>
          <p:cNvSpPr/>
          <p:nvPr/>
        </p:nvSpPr>
        <p:spPr>
          <a:xfrm>
            <a:off x="1296000" y="2650000"/>
            <a:ext cx="9600000" cy="1150000"/>
          </a:xfrm>
          <a:prstGeom prst="parallelogram">
            <a:avLst/>
          </a:prstGeom>
          <a:solidFill>
            <a:srgbClr val="FFC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DF8E9C-8BDB-E800-B2F3-457715473971}"/>
              </a:ext>
            </a:extLst>
          </p:cNvPr>
          <p:cNvSpPr txBox="1"/>
          <p:nvPr/>
        </p:nvSpPr>
        <p:spPr>
          <a:xfrm>
            <a:off x="1296000" y="2680000"/>
            <a:ext cx="9600000" cy="109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3600" b="1" i="1" dirty="0">
                <a:solidFill>
                  <a:srgbClr val="2D2D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Visión general del sistema</a:t>
            </a:r>
          </a:p>
        </p:txBody>
      </p:sp>
    </p:spTree>
    <p:extLst>
      <p:ext uri="{BB962C8B-B14F-4D97-AF65-F5344CB8AC3E}">
        <p14:creationId xmlns:p14="http://schemas.microsoft.com/office/powerpoint/2010/main" val="3696544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¿Qué es GAN?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spc="100" dirty="0">
                <a:solidFill>
                  <a:srgbClr val="E40321"/>
                </a:solidFill>
                <a:latin typeface="Arial"/>
              </a:rPr>
              <a:t>VISIÓN GENERAL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1153704"/>
          </a:xfrm>
          <a:prstGeom prst="rect">
            <a:avLst/>
          </a:prstGeom>
          <a:noFill/>
        </p:spPr>
        <p:txBody>
          <a:bodyPr wrap="square" rtlCol="0" anchor="t">
            <a:normAutofit fontScale="92500"/>
          </a:bodyPr>
          <a:lstStyle/>
          <a:p>
            <a:pPr marL="228600" indent="-228600">
              <a:buFont typeface="Arial"/>
              <a:buChar char="•"/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Es el Sistema Gestión de Anexos Intranet mediante la cual los usuarios diseñan plantillas de anexos/formularios.</a:t>
            </a:r>
          </a:p>
          <a:p>
            <a:pPr marL="228600" indent="-228600">
              <a:buFont typeface="Arial"/>
              <a:buChar char="•"/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Las plantillas pasan por un flujo de revisión y aprobación antes de publicarse.</a:t>
            </a:r>
          </a:p>
          <a:p>
            <a:pPr marL="228600" indent="-228600">
              <a:buFont typeface="Arial"/>
              <a:buChar char="•"/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Una sola SPA (frontend) se integra con 4 microservicios backend independientes.</a:t>
            </a:r>
          </a:p>
          <a:p>
            <a:pPr marL="228600" indent="-228600">
              <a:buFont typeface="Arial"/>
              <a:buChar char="•"/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Toda la autenticación se centraliza en Keycloak (realm Intranet del SRI).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79323AE-2C20-01AF-413B-83FBE67E30CF}"/>
              </a:ext>
            </a:extLst>
          </p:cNvPr>
          <p:cNvSpPr txBox="1"/>
          <p:nvPr/>
        </p:nvSpPr>
        <p:spPr>
          <a:xfrm>
            <a:off x="1010399" y="2730930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Componentes principales</a:t>
            </a:r>
          </a:p>
        </p:txBody>
      </p:sp>
      <p:sp>
        <p:nvSpPr>
          <p:cNvPr id="6" name="Cuerpo 11">
            <a:extLst>
              <a:ext uri="{FF2B5EF4-FFF2-40B4-BE49-F238E27FC236}">
                <a16:creationId xmlns:a16="http://schemas.microsoft.com/office/drawing/2014/main" id="{CF00748D-D9EF-464C-BE67-BDF5DE80CF68}"/>
              </a:ext>
            </a:extLst>
          </p:cNvPr>
          <p:cNvSpPr txBox="1"/>
          <p:nvPr/>
        </p:nvSpPr>
        <p:spPr>
          <a:xfrm>
            <a:off x="1010399" y="3630168"/>
            <a:ext cx="10171200" cy="2542032"/>
          </a:xfrm>
          <a:prstGeom prst="rect">
            <a:avLst/>
          </a:prstGeom>
          <a:noFill/>
        </p:spPr>
        <p:txBody>
          <a:bodyPr wrap="square" rtlCol="0" anchor="t">
            <a:normAutofit lnSpcReduction="10000"/>
          </a:bodyPr>
          <a:lstStyle/>
          <a:p>
            <a:pPr marL="228600" indent="-228600">
              <a:buFont typeface="Arial"/>
              <a:buChar char="•"/>
            </a:pPr>
            <a:r>
              <a:rPr lang="es-EC" sz="1600" dirty="0" err="1">
                <a:solidFill>
                  <a:srgbClr val="202020"/>
                </a:solidFill>
                <a:latin typeface="Arial"/>
              </a:rPr>
              <a:t>Frontend</a:t>
            </a:r>
            <a:endParaRPr lang="es-EC" sz="1600" dirty="0">
              <a:solidFill>
                <a:srgbClr val="202020"/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–"/>
            </a:pPr>
            <a:r>
              <a:rPr lang="es-EC" sz="1500" dirty="0" err="1">
                <a:solidFill>
                  <a:srgbClr val="595959"/>
                </a:solidFill>
                <a:latin typeface="Arial"/>
              </a:rPr>
              <a:t>sri</a:t>
            </a:r>
            <a:r>
              <a:rPr lang="es-EC" sz="1500" dirty="0">
                <a:solidFill>
                  <a:srgbClr val="595959"/>
                </a:solidFill>
                <a:latin typeface="Arial"/>
              </a:rPr>
              <a:t>-</a:t>
            </a:r>
            <a:r>
              <a:rPr lang="es-EC" sz="1500" dirty="0" err="1">
                <a:solidFill>
                  <a:srgbClr val="595959"/>
                </a:solidFill>
                <a:latin typeface="Arial"/>
              </a:rPr>
              <a:t>gestion</a:t>
            </a:r>
            <a:r>
              <a:rPr lang="es-EC" sz="1500" dirty="0">
                <a:solidFill>
                  <a:srgbClr val="595959"/>
                </a:solidFill>
                <a:latin typeface="Arial"/>
              </a:rPr>
              <a:t>-anexos-web</a:t>
            </a:r>
          </a:p>
          <a:p>
            <a:pPr marL="228600" indent="-228600">
              <a:buFont typeface="Arial"/>
              <a:buChar char="•"/>
            </a:pPr>
            <a:endParaRPr lang="es-EC" sz="1600" dirty="0">
              <a:solidFill>
                <a:srgbClr val="202020"/>
              </a:solidFill>
              <a:latin typeface="Arial"/>
            </a:endParaRPr>
          </a:p>
          <a:p>
            <a:pPr marL="228600" indent="-228600">
              <a:buFont typeface="Arial"/>
              <a:buChar char="•"/>
            </a:pPr>
            <a:r>
              <a:rPr lang="es-EC" sz="1600" dirty="0" err="1">
                <a:solidFill>
                  <a:srgbClr val="202020"/>
                </a:solidFill>
                <a:latin typeface="Arial"/>
              </a:rPr>
              <a:t>Backend</a:t>
            </a:r>
            <a:endParaRPr lang="es-EC" sz="1600" dirty="0">
              <a:solidFill>
                <a:srgbClr val="202020"/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–"/>
            </a:pPr>
            <a:r>
              <a:rPr lang="es-EC" sz="1500" dirty="0" err="1">
                <a:solidFill>
                  <a:srgbClr val="595959"/>
                </a:solidFill>
                <a:latin typeface="Arial"/>
              </a:rPr>
              <a:t>sri</a:t>
            </a:r>
            <a:r>
              <a:rPr lang="es-EC" sz="1500" dirty="0">
                <a:solidFill>
                  <a:srgbClr val="595959"/>
                </a:solidFill>
                <a:latin typeface="Arial"/>
              </a:rPr>
              <a:t>-</a:t>
            </a:r>
            <a:r>
              <a:rPr lang="es-EC" sz="1500" dirty="0" err="1">
                <a:solidFill>
                  <a:srgbClr val="595959"/>
                </a:solidFill>
                <a:latin typeface="Arial"/>
              </a:rPr>
              <a:t>autorizacion</a:t>
            </a:r>
            <a:r>
              <a:rPr lang="es-EC" sz="1500" dirty="0">
                <a:solidFill>
                  <a:srgbClr val="595959"/>
                </a:solidFill>
                <a:latin typeface="Arial"/>
              </a:rPr>
              <a:t>-api </a:t>
            </a:r>
          </a:p>
          <a:p>
            <a:pPr marL="285750" indent="-285750">
              <a:buFont typeface="Arial" panose="020B0604020202020204" pitchFamily="34" charset="0"/>
              <a:buChar char="–"/>
            </a:pPr>
            <a:r>
              <a:rPr lang="es-EC" sz="1500" dirty="0" err="1">
                <a:solidFill>
                  <a:srgbClr val="595959"/>
                </a:solidFill>
                <a:latin typeface="Arial"/>
              </a:rPr>
              <a:t>sri</a:t>
            </a:r>
            <a:r>
              <a:rPr lang="es-EC" sz="1500" dirty="0">
                <a:solidFill>
                  <a:srgbClr val="595959"/>
                </a:solidFill>
                <a:latin typeface="Arial"/>
              </a:rPr>
              <a:t>-anexos-</a:t>
            </a:r>
            <a:r>
              <a:rPr lang="es-EC" sz="1500" dirty="0" err="1">
                <a:solidFill>
                  <a:srgbClr val="595959"/>
                </a:solidFill>
                <a:latin typeface="Arial"/>
              </a:rPr>
              <a:t>catalogos</a:t>
            </a:r>
            <a:r>
              <a:rPr lang="es-EC" sz="1500" dirty="0">
                <a:solidFill>
                  <a:srgbClr val="595959"/>
                </a:solidFill>
                <a:latin typeface="Arial"/>
              </a:rPr>
              <a:t>-</a:t>
            </a:r>
            <a:r>
              <a:rPr lang="es-EC" sz="1500" dirty="0" err="1">
                <a:solidFill>
                  <a:srgbClr val="595959"/>
                </a:solidFill>
                <a:latin typeface="Arial"/>
              </a:rPr>
              <a:t>service</a:t>
            </a:r>
            <a:endParaRPr lang="es-EC" sz="1500" dirty="0">
              <a:solidFill>
                <a:srgbClr val="595959"/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–"/>
            </a:pPr>
            <a:r>
              <a:rPr lang="es-EC" sz="1500" dirty="0" err="1">
                <a:solidFill>
                  <a:srgbClr val="595959"/>
                </a:solidFill>
                <a:latin typeface="Arial"/>
              </a:rPr>
              <a:t>sri</a:t>
            </a:r>
            <a:r>
              <a:rPr lang="es-EC" sz="1500" dirty="0">
                <a:solidFill>
                  <a:srgbClr val="595959"/>
                </a:solidFill>
                <a:latin typeface="Arial"/>
              </a:rPr>
              <a:t>-anexos-estructura-</a:t>
            </a:r>
            <a:r>
              <a:rPr lang="es-EC" sz="1500" dirty="0" err="1">
                <a:solidFill>
                  <a:srgbClr val="595959"/>
                </a:solidFill>
                <a:latin typeface="Arial"/>
              </a:rPr>
              <a:t>service</a:t>
            </a:r>
            <a:endParaRPr lang="es-EC" sz="1500" dirty="0">
              <a:solidFill>
                <a:srgbClr val="595959"/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–"/>
            </a:pPr>
            <a:r>
              <a:rPr lang="es-EC" sz="1500" dirty="0" err="1">
                <a:solidFill>
                  <a:srgbClr val="595959"/>
                </a:solidFill>
                <a:latin typeface="Arial"/>
              </a:rPr>
              <a:t>sri</a:t>
            </a:r>
            <a:r>
              <a:rPr lang="es-EC" sz="1500" dirty="0">
                <a:solidFill>
                  <a:srgbClr val="595959"/>
                </a:solidFill>
                <a:latin typeface="Arial"/>
              </a:rPr>
              <a:t>-anexos-</a:t>
            </a:r>
            <a:r>
              <a:rPr lang="es-EC" sz="1500" dirty="0" err="1">
                <a:solidFill>
                  <a:srgbClr val="595959"/>
                </a:solidFill>
                <a:latin typeface="Arial"/>
              </a:rPr>
              <a:t>habilitacion</a:t>
            </a:r>
            <a:r>
              <a:rPr lang="es-EC" sz="1500" dirty="0">
                <a:solidFill>
                  <a:srgbClr val="595959"/>
                </a:solidFill>
                <a:latin typeface="Arial"/>
              </a:rPr>
              <a:t>-</a:t>
            </a:r>
            <a:r>
              <a:rPr lang="es-EC" sz="1500" dirty="0" err="1">
                <a:solidFill>
                  <a:srgbClr val="595959"/>
                </a:solidFill>
                <a:latin typeface="Arial"/>
              </a:rPr>
              <a:t>service</a:t>
            </a:r>
            <a:endParaRPr lang="es-EC" sz="1500" dirty="0">
              <a:solidFill>
                <a:srgbClr val="595959"/>
              </a:solidFill>
              <a:latin typeface="Arial"/>
            </a:endParaRPr>
          </a:p>
          <a:p>
            <a:endParaRPr lang="es-EC" sz="1500" dirty="0">
              <a:solidFill>
                <a:srgbClr val="595959"/>
              </a:solidFill>
              <a:latin typeface="Arial"/>
            </a:endParaRPr>
          </a:p>
          <a:p>
            <a:pPr marL="228600" indent="-228600">
              <a:buFont typeface="Arial"/>
              <a:buChar char="•"/>
            </a:pPr>
            <a:r>
              <a:rPr lang="es-EC" sz="1600" dirty="0">
                <a:solidFill>
                  <a:srgbClr val="202020"/>
                </a:solidFill>
                <a:latin typeface="Arial"/>
              </a:rPr>
              <a:t>SSO</a:t>
            </a:r>
            <a:endParaRPr lang="es-EC" sz="1400" dirty="0">
              <a:solidFill>
                <a:srgbClr val="595959"/>
              </a:solidFill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–"/>
            </a:pPr>
            <a:r>
              <a:rPr lang="es-EC" sz="1500" dirty="0" err="1">
                <a:solidFill>
                  <a:srgbClr val="595959"/>
                </a:solidFill>
                <a:latin typeface="Arial"/>
              </a:rPr>
              <a:t>Keycloak</a:t>
            </a:r>
            <a:r>
              <a:rPr lang="es-EC" sz="1500" dirty="0">
                <a:solidFill>
                  <a:srgbClr val="595959"/>
                </a:solidFill>
                <a:latin typeface="Arial"/>
              </a:rPr>
              <a:t> (realm Intranet)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0188-863E-B4DF-9583-26376E48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elogramo 1">
            <a:extLst>
              <a:ext uri="{FF2B5EF4-FFF2-40B4-BE49-F238E27FC236}">
                <a16:creationId xmlns:a16="http://schemas.microsoft.com/office/drawing/2014/main" id="{A2ABDF0C-3B02-1F90-DF2A-3726AD73EA58}"/>
              </a:ext>
            </a:extLst>
          </p:cNvPr>
          <p:cNvSpPr/>
          <p:nvPr/>
        </p:nvSpPr>
        <p:spPr>
          <a:xfrm>
            <a:off x="1296000" y="2650000"/>
            <a:ext cx="9600000" cy="1150000"/>
          </a:xfrm>
          <a:prstGeom prst="parallelogram">
            <a:avLst/>
          </a:prstGeom>
          <a:solidFill>
            <a:srgbClr val="FFC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DF8E9C-8BDB-E800-B2F3-457715473971}"/>
              </a:ext>
            </a:extLst>
          </p:cNvPr>
          <p:cNvSpPr txBox="1"/>
          <p:nvPr/>
        </p:nvSpPr>
        <p:spPr>
          <a:xfrm>
            <a:off x="1296000" y="2680000"/>
            <a:ext cx="9600000" cy="109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3600" b="1" i="1" dirty="0">
                <a:solidFill>
                  <a:srgbClr val="2D2D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Arquitectura general del ecosistema</a:t>
            </a:r>
          </a:p>
        </p:txBody>
      </p:sp>
    </p:spTree>
    <p:extLst>
      <p:ext uri="{BB962C8B-B14F-4D97-AF65-F5344CB8AC3E}">
        <p14:creationId xmlns:p14="http://schemas.microsoft.com/office/powerpoint/2010/main" val="3696544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737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Arquitectura </a:t>
            </a:r>
            <a:r>
              <a:rPr lang="es-EC" sz="3600" dirty="0" err="1">
                <a:solidFill>
                  <a:srgbClr val="2D2D93"/>
                </a:solidFill>
                <a:latin typeface="Barlow Condensed Medium" pitchFamily="2" charset="77"/>
              </a:rPr>
              <a:t>backends</a:t>
            </a:r>
            <a:endParaRPr lang="es-EC" sz="3600" dirty="0">
              <a:solidFill>
                <a:srgbClr val="2D2D93"/>
              </a:solidFill>
              <a:latin typeface="Barlow Condensed Medium" pitchFamily="2" charset="77"/>
            </a:endParaRP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spc="100" dirty="0">
                <a:solidFill>
                  <a:srgbClr val="E40321"/>
                </a:solidFill>
                <a:latin typeface="Arial"/>
              </a:rPr>
              <a:t>ARQUITECTURA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229670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Arquitectura Hexagonal (Puertos y Adaptadores) + Clean Architecture + DDD</a:t>
            </a:r>
          </a:p>
          <a:p>
            <a:pPr marL="228600" indent="-228600">
              <a:buFont typeface="Arial"/>
              <a:buChar char="•"/>
            </a:pPr>
            <a:r>
              <a:rPr lang="es-EC" sz="1600" b="0" dirty="0" err="1">
                <a:solidFill>
                  <a:srgbClr val="202020"/>
                </a:solidFill>
                <a:latin typeface="Arial"/>
              </a:rPr>
              <a:t>Quarkus</a:t>
            </a:r>
            <a:r>
              <a:rPr lang="es-EC" sz="1600" b="0" dirty="0">
                <a:solidFill>
                  <a:srgbClr val="202020"/>
                </a:solidFill>
                <a:latin typeface="Arial"/>
              </a:rPr>
              <a:t> 3.36.1 / Java 21, persistencia reactiva contra Oracle</a:t>
            </a:r>
          </a:p>
          <a:p>
            <a:pPr marL="228600" indent="-228600">
              <a:buFont typeface="Arial"/>
              <a:buChar char="•"/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Estructura:</a:t>
            </a:r>
          </a:p>
          <a:p>
            <a:pPr marL="514350" indent="-228600">
              <a:buFont typeface="Arial"/>
              <a:buChar char="–"/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infrastructure/ </a:t>
            </a:r>
            <a:endParaRPr lang="es-EC" sz="1400" dirty="0">
              <a:solidFill>
                <a:srgbClr val="595959"/>
              </a:solidFill>
              <a:latin typeface="Arial"/>
            </a:endParaRPr>
          </a:p>
          <a:p>
            <a:pPr marL="285750"/>
            <a:r>
              <a:rPr lang="es-EC" sz="1400" b="0" dirty="0">
                <a:solidFill>
                  <a:srgbClr val="595959"/>
                </a:solidFill>
                <a:latin typeface="Arial"/>
              </a:rPr>
              <a:t>	REST, remote (clientes a otros microservicios), filtros, persistencia, security</a:t>
            </a:r>
          </a:p>
          <a:p>
            <a:pPr marL="514350" indent="-228600">
              <a:buFont typeface="Arial"/>
              <a:buChar char="–"/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application/ </a:t>
            </a:r>
            <a:endParaRPr lang="es-EC" sz="1400" dirty="0">
              <a:solidFill>
                <a:srgbClr val="595959"/>
              </a:solidFill>
              <a:latin typeface="Arial"/>
            </a:endParaRPr>
          </a:p>
          <a:p>
            <a:pPr marL="742950" lvl="1"/>
            <a:r>
              <a:rPr lang="es-EC" sz="1400" b="0" dirty="0">
                <a:solidFill>
                  <a:srgbClr val="595959"/>
                </a:solidFill>
                <a:latin typeface="Arial"/>
              </a:rPr>
              <a:t>	servicios de caso de uso, DTOs</a:t>
            </a:r>
          </a:p>
          <a:p>
            <a:pPr marL="514350" indent="-228600">
              <a:buFont typeface="Arial"/>
              <a:buChar char="–"/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domain/ </a:t>
            </a:r>
            <a:endParaRPr lang="es-EC" sz="1400" dirty="0">
              <a:solidFill>
                <a:srgbClr val="595959"/>
              </a:solidFill>
              <a:latin typeface="Arial"/>
            </a:endParaRPr>
          </a:p>
          <a:p>
            <a:pPr marL="285750"/>
            <a:r>
              <a:rPr lang="es-EC" sz="1400" b="0" dirty="0">
                <a:solidFill>
                  <a:srgbClr val="595959"/>
                </a:solidFill>
                <a:latin typeface="Arial"/>
              </a:rPr>
              <a:t>	modelo, reglas de negocio, puerto del repositorio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8576D29-2230-7B25-A531-BB8C7FE8BA2D}"/>
              </a:ext>
            </a:extLst>
          </p:cNvPr>
          <p:cNvSpPr txBox="1"/>
          <p:nvPr/>
        </p:nvSpPr>
        <p:spPr>
          <a:xfrm>
            <a:off x="1010400" y="3813115"/>
            <a:ext cx="737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El ecosistema y el flujo de una petición</a:t>
            </a:r>
          </a:p>
        </p:txBody>
      </p:sp>
      <p:sp>
        <p:nvSpPr>
          <p:cNvPr id="6" name="Cuerpo 11">
            <a:extLst>
              <a:ext uri="{FF2B5EF4-FFF2-40B4-BE49-F238E27FC236}">
                <a16:creationId xmlns:a16="http://schemas.microsoft.com/office/drawing/2014/main" id="{1357A2E9-250A-DD72-C46E-1CEF63F0C574}"/>
              </a:ext>
            </a:extLst>
          </p:cNvPr>
          <p:cNvSpPr txBox="1"/>
          <p:nvPr/>
        </p:nvSpPr>
        <p:spPr>
          <a:xfrm>
            <a:off x="1010400" y="4608576"/>
            <a:ext cx="10171200" cy="154142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s-EC" sz="1600" dirty="0" err="1">
                <a:solidFill>
                  <a:srgbClr val="202020"/>
                </a:solidFill>
                <a:latin typeface="Arial"/>
              </a:rPr>
              <a:t>Frontend</a:t>
            </a:r>
            <a:r>
              <a:rPr lang="es-EC" sz="1600" dirty="0">
                <a:solidFill>
                  <a:srgbClr val="202020"/>
                </a:solidFill>
                <a:latin typeface="Arial"/>
              </a:rPr>
              <a:t> </a:t>
            </a:r>
            <a:r>
              <a:rPr lang="es-EC" sz="1400" dirty="0">
                <a:solidFill>
                  <a:srgbClr val="595959"/>
                </a:solidFill>
                <a:latin typeface="Arial"/>
              </a:rPr>
              <a:t>- llama a los 4 microservicios </a:t>
            </a:r>
            <a:r>
              <a:rPr lang="es-EC" sz="1400" dirty="0" err="1">
                <a:solidFill>
                  <a:srgbClr val="595959"/>
                </a:solidFill>
                <a:latin typeface="Arial"/>
              </a:rPr>
              <a:t>backend</a:t>
            </a:r>
            <a:r>
              <a:rPr lang="es-EC" sz="1400" dirty="0">
                <a:solidFill>
                  <a:srgbClr val="595959"/>
                </a:solidFill>
                <a:latin typeface="Arial"/>
              </a:rPr>
              <a:t> con el token de Keycloak</a:t>
            </a:r>
          </a:p>
          <a:p>
            <a:pPr marL="228600" indent="-228600">
              <a:buFont typeface="Arial"/>
              <a:buChar char="•"/>
            </a:pPr>
            <a:r>
              <a:rPr lang="es-EC" sz="1600" dirty="0">
                <a:solidFill>
                  <a:srgbClr val="202020"/>
                </a:solidFill>
                <a:latin typeface="Arial"/>
              </a:rPr>
              <a:t>Keycloak (realm Intranet) </a:t>
            </a:r>
            <a:r>
              <a:rPr lang="es-EC" sz="1400" dirty="0">
                <a:solidFill>
                  <a:srgbClr val="595959"/>
                </a:solidFill>
                <a:latin typeface="Arial"/>
              </a:rPr>
              <a:t>- emite y valida los tokens JWT de todo el ecosistema</a:t>
            </a:r>
          </a:p>
          <a:p>
            <a:pPr marL="228600" indent="-228600">
              <a:buFont typeface="Arial"/>
              <a:buChar char="•"/>
            </a:pPr>
            <a:r>
              <a:rPr lang="es-EC" sz="1600" dirty="0">
                <a:solidFill>
                  <a:srgbClr val="202020"/>
                </a:solidFill>
                <a:latin typeface="Arial"/>
              </a:rPr>
              <a:t>Microservicio valida token </a:t>
            </a:r>
            <a:r>
              <a:rPr lang="es-EC" sz="1400" dirty="0">
                <a:solidFill>
                  <a:srgbClr val="595959"/>
                </a:solidFill>
                <a:latin typeface="Arial"/>
              </a:rPr>
              <a:t>- tipo de acceso (</a:t>
            </a:r>
            <a:r>
              <a:rPr lang="es-EC" sz="1400" dirty="0" err="1">
                <a:solidFill>
                  <a:srgbClr val="595959"/>
                </a:solidFill>
                <a:latin typeface="Arial"/>
              </a:rPr>
              <a:t>bearer-only</a:t>
            </a:r>
            <a:r>
              <a:rPr lang="es-EC" sz="1400" dirty="0">
                <a:solidFill>
                  <a:srgbClr val="595959"/>
                </a:solidFill>
                <a:latin typeface="Arial"/>
              </a:rPr>
              <a:t>)</a:t>
            </a:r>
          </a:p>
          <a:p>
            <a:pPr marL="228600" indent="-228600">
              <a:buFont typeface="Arial"/>
              <a:buChar char="•"/>
            </a:pPr>
            <a:r>
              <a:rPr lang="es-EC" sz="1600" dirty="0">
                <a:solidFill>
                  <a:srgbClr val="202020"/>
                </a:solidFill>
                <a:latin typeface="Arial"/>
              </a:rPr>
              <a:t>Flujo de petición </a:t>
            </a:r>
            <a:r>
              <a:rPr lang="es-EC" sz="1400" dirty="0">
                <a:solidFill>
                  <a:srgbClr val="595959"/>
                </a:solidFill>
                <a:latin typeface="Arial"/>
              </a:rPr>
              <a:t>- filtro de seguridad → recurso REST → servicio de aplicación → repositorio de dominio → base de datos Oracle → respuesta HTTP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0188-863E-B4DF-9583-26376E48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elogramo 1">
            <a:extLst>
              <a:ext uri="{FF2B5EF4-FFF2-40B4-BE49-F238E27FC236}">
                <a16:creationId xmlns:a16="http://schemas.microsoft.com/office/drawing/2014/main" id="{A2ABDF0C-3B02-1F90-DF2A-3726AD73EA58}"/>
              </a:ext>
            </a:extLst>
          </p:cNvPr>
          <p:cNvSpPr/>
          <p:nvPr/>
        </p:nvSpPr>
        <p:spPr>
          <a:xfrm>
            <a:off x="1296000" y="2650000"/>
            <a:ext cx="9600000" cy="1150000"/>
          </a:xfrm>
          <a:prstGeom prst="parallelogram">
            <a:avLst/>
          </a:prstGeom>
          <a:solidFill>
            <a:srgbClr val="FFC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DF8E9C-8BDB-E800-B2F3-457715473971}"/>
              </a:ext>
            </a:extLst>
          </p:cNvPr>
          <p:cNvSpPr txBox="1"/>
          <p:nvPr/>
        </p:nvSpPr>
        <p:spPr>
          <a:xfrm>
            <a:off x="1296000" y="2680000"/>
            <a:ext cx="96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3600" b="1" i="1" dirty="0">
                <a:solidFill>
                  <a:srgbClr val="2D2D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Frontend: Core del sistema</a:t>
            </a:r>
          </a:p>
        </p:txBody>
      </p:sp>
    </p:spTree>
    <p:extLst>
      <p:ext uri="{BB962C8B-B14F-4D97-AF65-F5344CB8AC3E}">
        <p14:creationId xmlns:p14="http://schemas.microsoft.com/office/powerpoint/2010/main" val="3696544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6222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Stack tecnológico del frontend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spc="100" dirty="0">
                <a:solidFill>
                  <a:srgbClr val="E40321"/>
                </a:solidFill>
                <a:latin typeface="Arial"/>
              </a:rPr>
              <a:t>CORE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16017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s-EC" sz="1600" dirty="0">
                <a:solidFill>
                  <a:srgbClr val="202020"/>
                </a:solidFill>
                <a:latin typeface="Arial"/>
              </a:rPr>
              <a:t>Vue 3 (Composition API) + Vite </a:t>
            </a:r>
            <a:r>
              <a:rPr lang="es-EC" sz="1400" dirty="0">
                <a:solidFill>
                  <a:srgbClr val="595959"/>
                </a:solidFill>
                <a:latin typeface="Arial"/>
              </a:rPr>
              <a:t>- </a:t>
            </a:r>
            <a:r>
              <a:rPr lang="es-ES" sz="1400" dirty="0">
                <a:solidFill>
                  <a:srgbClr val="595959"/>
                </a:solidFill>
                <a:latin typeface="Arial"/>
              </a:rPr>
              <a:t>organización por módulo de negocio bajo </a:t>
            </a:r>
            <a:r>
              <a:rPr lang="es-ES" sz="1400" dirty="0" err="1">
                <a:solidFill>
                  <a:srgbClr val="595959"/>
                </a:solidFill>
                <a:latin typeface="Arial"/>
              </a:rPr>
              <a:t>src</a:t>
            </a:r>
            <a:r>
              <a:rPr lang="es-ES" sz="1400" dirty="0">
                <a:solidFill>
                  <a:srgbClr val="595959"/>
                </a:solidFill>
                <a:latin typeface="Arial"/>
              </a:rPr>
              <a:t>/</a:t>
            </a:r>
            <a:r>
              <a:rPr lang="es-ES" sz="1400" dirty="0" err="1">
                <a:solidFill>
                  <a:srgbClr val="595959"/>
                </a:solidFill>
                <a:latin typeface="Arial"/>
              </a:rPr>
              <a:t>components</a:t>
            </a:r>
            <a:endParaRPr lang="es-EC" sz="1400" dirty="0">
              <a:solidFill>
                <a:srgbClr val="595959"/>
              </a:solidFill>
              <a:latin typeface="Arial"/>
            </a:endParaRPr>
          </a:p>
          <a:p>
            <a:pPr marL="228600" indent="-228600">
              <a:buFont typeface="Arial"/>
              <a:buChar char="•"/>
            </a:pPr>
            <a:r>
              <a:rPr lang="es-EC" sz="1600" dirty="0" err="1">
                <a:solidFill>
                  <a:srgbClr val="202020"/>
                </a:solidFill>
                <a:latin typeface="Arial"/>
              </a:rPr>
              <a:t>Pinia</a:t>
            </a:r>
            <a:r>
              <a:rPr lang="es-EC" sz="1600" b="1" dirty="0">
                <a:solidFill>
                  <a:srgbClr val="202020"/>
                </a:solidFill>
                <a:latin typeface="Arial"/>
              </a:rPr>
              <a:t> </a:t>
            </a:r>
            <a:r>
              <a:rPr lang="es-EC" sz="1400" dirty="0">
                <a:solidFill>
                  <a:srgbClr val="595959"/>
                </a:solidFill>
                <a:latin typeface="Arial"/>
              </a:rPr>
              <a:t>-</a:t>
            </a:r>
            <a:r>
              <a:rPr lang="es-EC" sz="1600" b="1" dirty="0">
                <a:solidFill>
                  <a:srgbClr val="202020"/>
                </a:solidFill>
                <a:latin typeface="Arial"/>
              </a:rPr>
              <a:t> </a:t>
            </a:r>
            <a:r>
              <a:rPr lang="es-EC" sz="1400" dirty="0">
                <a:solidFill>
                  <a:srgbClr val="595959"/>
                </a:solidFill>
                <a:latin typeface="Arial"/>
              </a:rPr>
              <a:t>estado global</a:t>
            </a:r>
          </a:p>
          <a:p>
            <a:pPr marL="228600" indent="-228600">
              <a:buFont typeface="Arial"/>
              <a:buChar char="•"/>
            </a:pPr>
            <a:r>
              <a:rPr lang="es-EC" sz="1600" dirty="0" err="1">
                <a:solidFill>
                  <a:srgbClr val="202020"/>
                </a:solidFill>
                <a:latin typeface="Arial"/>
              </a:rPr>
              <a:t>PrimeVue</a:t>
            </a:r>
            <a:r>
              <a:rPr lang="es-EC" sz="1600" b="1" dirty="0">
                <a:solidFill>
                  <a:srgbClr val="202020"/>
                </a:solidFill>
                <a:latin typeface="Arial"/>
              </a:rPr>
              <a:t> </a:t>
            </a:r>
            <a:r>
              <a:rPr lang="es-EC" sz="1400" dirty="0">
                <a:solidFill>
                  <a:srgbClr val="595959"/>
                </a:solidFill>
                <a:latin typeface="Arial"/>
              </a:rPr>
              <a:t>-</a:t>
            </a:r>
            <a:r>
              <a:rPr lang="es-EC" sz="1600" b="1" dirty="0">
                <a:solidFill>
                  <a:srgbClr val="202020"/>
                </a:solidFill>
                <a:latin typeface="Arial"/>
              </a:rPr>
              <a:t> </a:t>
            </a:r>
            <a:r>
              <a:rPr lang="es-EC" sz="1400" dirty="0">
                <a:solidFill>
                  <a:srgbClr val="595959"/>
                </a:solidFill>
                <a:latin typeface="Arial"/>
              </a:rPr>
              <a:t>librería de componentes UI</a:t>
            </a:r>
          </a:p>
          <a:p>
            <a:pPr marL="228600" indent="-228600">
              <a:buFont typeface="Arial"/>
              <a:buChar char="•"/>
            </a:pPr>
            <a:r>
              <a:rPr lang="es-EC" sz="1600" dirty="0">
                <a:solidFill>
                  <a:srgbClr val="202020"/>
                </a:solidFill>
                <a:latin typeface="Arial"/>
              </a:rPr>
              <a:t>Axios</a:t>
            </a:r>
            <a:r>
              <a:rPr lang="es-EC" sz="1600" b="1" dirty="0">
                <a:solidFill>
                  <a:srgbClr val="202020"/>
                </a:solidFill>
                <a:latin typeface="Arial"/>
              </a:rPr>
              <a:t> </a:t>
            </a:r>
            <a:r>
              <a:rPr lang="es-EC" sz="1400" dirty="0">
                <a:solidFill>
                  <a:srgbClr val="595959"/>
                </a:solidFill>
                <a:latin typeface="Arial"/>
              </a:rPr>
              <a:t>- cliente HTTP</a:t>
            </a:r>
          </a:p>
          <a:p>
            <a:pPr marL="228600" indent="-228600">
              <a:buFont typeface="Arial"/>
              <a:buChar char="•"/>
            </a:pPr>
            <a:r>
              <a:rPr lang="es-EC" sz="1600" dirty="0" err="1">
                <a:solidFill>
                  <a:srgbClr val="202020"/>
                </a:solidFill>
                <a:latin typeface="Arial"/>
              </a:rPr>
              <a:t>keycloak-js</a:t>
            </a:r>
            <a:r>
              <a:rPr lang="es-EC" sz="1600" b="1" dirty="0">
                <a:solidFill>
                  <a:srgbClr val="202020"/>
                </a:solidFill>
                <a:latin typeface="Arial"/>
              </a:rPr>
              <a:t> </a:t>
            </a:r>
            <a:r>
              <a:rPr lang="es-EC" sz="1400" dirty="0">
                <a:solidFill>
                  <a:srgbClr val="595959"/>
                </a:solidFill>
                <a:latin typeface="Arial"/>
              </a:rPr>
              <a:t>- integración SSO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6338645-2D03-7786-64F7-527F46E9148D}"/>
              </a:ext>
            </a:extLst>
          </p:cNvPr>
          <p:cNvSpPr txBox="1"/>
          <p:nvPr/>
        </p:nvSpPr>
        <p:spPr>
          <a:xfrm>
            <a:off x="1010400" y="3171816"/>
            <a:ext cx="6542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Componentes principales del </a:t>
            </a:r>
            <a:r>
              <a:rPr lang="es-EC" sz="3600" dirty="0" err="1">
                <a:solidFill>
                  <a:srgbClr val="2D2D93"/>
                </a:solidFill>
                <a:latin typeface="Barlow Condensed Medium" pitchFamily="2" charset="77"/>
              </a:rPr>
              <a:t>core</a:t>
            </a:r>
            <a:endParaRPr lang="es-EC" sz="3600" dirty="0">
              <a:solidFill>
                <a:srgbClr val="2D2D93"/>
              </a:solidFill>
              <a:latin typeface="Barlow Condensed Medium" pitchFamily="2" charset="77"/>
            </a:endParaRPr>
          </a:p>
        </p:txBody>
      </p:sp>
      <p:sp>
        <p:nvSpPr>
          <p:cNvPr id="6" name="Cuerpo 11">
            <a:extLst>
              <a:ext uri="{FF2B5EF4-FFF2-40B4-BE49-F238E27FC236}">
                <a16:creationId xmlns:a16="http://schemas.microsoft.com/office/drawing/2014/main" id="{A9D34C16-428A-494F-90F1-8D6A511BAB02}"/>
              </a:ext>
            </a:extLst>
          </p:cNvPr>
          <p:cNvSpPr txBox="1"/>
          <p:nvPr/>
        </p:nvSpPr>
        <p:spPr>
          <a:xfrm>
            <a:off x="1010400" y="3818146"/>
            <a:ext cx="10171200" cy="2331853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s-EC" sz="1600" dirty="0">
                <a:solidFill>
                  <a:srgbClr val="202020"/>
                </a:solidFill>
                <a:latin typeface="Arial"/>
              </a:rPr>
              <a:t>Sesión y seguridad</a:t>
            </a:r>
          </a:p>
          <a:p>
            <a:pPr marL="514350" indent="-228600">
              <a:buFont typeface="Arial"/>
              <a:buChar char="–"/>
            </a:pPr>
            <a:r>
              <a:rPr lang="es-EC" sz="1400" dirty="0">
                <a:solidFill>
                  <a:srgbClr val="595959"/>
                </a:solidFill>
                <a:latin typeface="Arial"/>
              </a:rPr>
              <a:t>src/keycloak</a:t>
            </a:r>
            <a:r>
              <a:rPr lang="es-EC" sz="1400" b="0" dirty="0">
                <a:solidFill>
                  <a:srgbClr val="595959"/>
                </a:solidFill>
                <a:latin typeface="Arial"/>
              </a:rPr>
              <a:t>/keycloak.js - inicializa Keycloak</a:t>
            </a:r>
          </a:p>
          <a:p>
            <a:pPr marL="514350" indent="-228600">
              <a:buFont typeface="Arial"/>
              <a:buChar char="–"/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src/interceptores/TokenInterceptor.js - inyecta Bearer token</a:t>
            </a:r>
          </a:p>
          <a:p>
            <a:pPr marL="514350" indent="-228600">
              <a:buFont typeface="Arial"/>
              <a:buChar char="–"/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src/router/AutorizacionGuardian.js - guard de acceso por módulo</a:t>
            </a:r>
          </a:p>
          <a:p>
            <a:pPr marL="514350" indent="-228600">
              <a:buFont typeface="Arial"/>
              <a:buChar char="–"/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src/store/UsuarioStore.js – maneja la sesión y autorización en caché</a:t>
            </a:r>
          </a:p>
          <a:p>
            <a:pPr marL="285750"/>
            <a:endParaRPr lang="es-EC" sz="1400" b="0" dirty="0">
              <a:solidFill>
                <a:srgbClr val="595959"/>
              </a:solidFill>
              <a:latin typeface="Arial"/>
            </a:endParaRPr>
          </a:p>
          <a:p>
            <a:pPr marL="228600" indent="-228600">
              <a:buFont typeface="Arial"/>
              <a:buChar char="•"/>
            </a:pPr>
            <a:r>
              <a:rPr lang="es-EC" sz="1600" dirty="0">
                <a:solidFill>
                  <a:srgbClr val="202020"/>
                </a:solidFill>
                <a:latin typeface="Arial"/>
              </a:rPr>
              <a:t>Transversales</a:t>
            </a:r>
          </a:p>
          <a:p>
            <a:pPr marL="514350" indent="-228600">
              <a:buFont typeface="Arial"/>
              <a:buChar char="–"/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src/router/RuteoBase.js - rutas con lazy loading</a:t>
            </a:r>
          </a:p>
          <a:p>
            <a:pPr marL="514350" indent="-228600">
              <a:buFont typeface="Arial"/>
              <a:buChar char="–"/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src/components/comun/ - tablas, filtros, diálogos reutilizables</a:t>
            </a:r>
          </a:p>
          <a:p>
            <a:pPr marL="514350" indent="-228600">
              <a:buFont typeface="Arial"/>
              <a:buChar char="–"/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src/components/base/ - inicio y páginas de error</a:t>
            </a: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0188-863E-B4DF-9583-26376E48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elogramo 1">
            <a:extLst>
              <a:ext uri="{FF2B5EF4-FFF2-40B4-BE49-F238E27FC236}">
                <a16:creationId xmlns:a16="http://schemas.microsoft.com/office/drawing/2014/main" id="{A2ABDF0C-3B02-1F90-DF2A-3726AD73EA58}"/>
              </a:ext>
            </a:extLst>
          </p:cNvPr>
          <p:cNvSpPr/>
          <p:nvPr/>
        </p:nvSpPr>
        <p:spPr>
          <a:xfrm>
            <a:off x="1296000" y="2650000"/>
            <a:ext cx="9600000" cy="1150000"/>
          </a:xfrm>
          <a:prstGeom prst="parallelogram">
            <a:avLst/>
          </a:prstGeom>
          <a:solidFill>
            <a:srgbClr val="FFC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DF8E9C-8BDB-E800-B2F3-457715473971}"/>
              </a:ext>
            </a:extLst>
          </p:cNvPr>
          <p:cNvSpPr txBox="1"/>
          <p:nvPr/>
        </p:nvSpPr>
        <p:spPr>
          <a:xfrm>
            <a:off x="1296000" y="2680000"/>
            <a:ext cx="9600000" cy="109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3600" b="1" i="1" dirty="0">
                <a:solidFill>
                  <a:srgbClr val="2D2D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Módulo de plantilla y aprobación</a:t>
            </a:r>
          </a:p>
        </p:txBody>
      </p:sp>
    </p:spTree>
    <p:extLst>
      <p:ext uri="{BB962C8B-B14F-4D97-AF65-F5344CB8AC3E}">
        <p14:creationId xmlns:p14="http://schemas.microsoft.com/office/powerpoint/2010/main" val="3696544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4909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Funcionalidades </a:t>
            </a:r>
            <a:r>
              <a:rPr lang="es-EC" sz="3600" dirty="0" err="1">
                <a:solidFill>
                  <a:srgbClr val="2D2D93"/>
                </a:solidFill>
                <a:latin typeface="Barlow Condensed Medium" pitchFamily="2" charset="77"/>
              </a:rPr>
              <a:t>frontend</a:t>
            </a:r>
            <a:endParaRPr lang="es-EC" sz="3600" dirty="0">
              <a:solidFill>
                <a:srgbClr val="2D2D93"/>
              </a:solidFill>
              <a:latin typeface="Barlow Condensed Medium" pitchFamily="2" charset="77"/>
            </a:endParaRP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spc="100" dirty="0">
                <a:solidFill>
                  <a:srgbClr val="E40321"/>
                </a:solidFill>
                <a:latin typeface="Arial"/>
              </a:rPr>
              <a:t>PLANTILLA Y APROBACIÓN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867121"/>
            <a:ext cx="10171200" cy="133658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s-EC" sz="1600" dirty="0">
                <a:solidFill>
                  <a:srgbClr val="202020"/>
                </a:solidFill>
                <a:latin typeface="Arial"/>
              </a:rPr>
              <a:t>Módulo Diseño</a:t>
            </a:r>
          </a:p>
          <a:p>
            <a:pPr marL="742950" lvl="1" indent="-285750">
              <a:buFont typeface="Arial" panose="020B0604020202020204" pitchFamily="34" charset="0"/>
              <a:buChar char="–"/>
            </a:pPr>
            <a:r>
              <a:rPr lang="es-EC" sz="1400" dirty="0">
                <a:solidFill>
                  <a:srgbClr val="595959"/>
                </a:solidFill>
                <a:latin typeface="Arial"/>
              </a:rPr>
              <a:t>Nuevo diseño: crea/edita plantillas con campos, validaciones y fórmulas</a:t>
            </a:r>
          </a:p>
          <a:p>
            <a:pPr marL="742950" lvl="1" indent="-285750">
              <a:buFont typeface="Arial" panose="020B0604020202020204" pitchFamily="34" charset="0"/>
              <a:buChar char="–"/>
            </a:pPr>
            <a:r>
              <a:rPr lang="es-EC" sz="1400" dirty="0">
                <a:solidFill>
                  <a:srgbClr val="595959"/>
                </a:solidFill>
                <a:latin typeface="Arial"/>
              </a:rPr>
              <a:t>Plantillas: maneja el ciclo de vida y envío a revisión de las plantillas</a:t>
            </a:r>
          </a:p>
          <a:p>
            <a:pPr marL="228600" indent="-228600">
              <a:buFont typeface="Arial"/>
              <a:buChar char="•"/>
            </a:pPr>
            <a:r>
              <a:rPr lang="es-EC" sz="1600" dirty="0">
                <a:solidFill>
                  <a:srgbClr val="202020"/>
                </a:solidFill>
                <a:latin typeface="Arial"/>
              </a:rPr>
              <a:t>Módulo Aprobación</a:t>
            </a:r>
          </a:p>
          <a:p>
            <a:pPr marL="742950" lvl="1" indent="-285750">
              <a:buFont typeface="Arial" panose="020B0604020202020204" pitchFamily="34" charset="0"/>
              <a:buChar char="–"/>
            </a:pPr>
            <a:r>
              <a:rPr lang="es-EC" sz="1400" dirty="0">
                <a:solidFill>
                  <a:srgbClr val="595959"/>
                </a:solidFill>
                <a:latin typeface="Arial"/>
              </a:rPr>
              <a:t>Aprobación: aprobar o rechazar plantillas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0AC4E5A-AEC4-1DF6-5428-C85FF3C18AD9}"/>
              </a:ext>
            </a:extLst>
          </p:cNvPr>
          <p:cNvSpPr txBox="1"/>
          <p:nvPr/>
        </p:nvSpPr>
        <p:spPr>
          <a:xfrm>
            <a:off x="1010400" y="2233265"/>
            <a:ext cx="5801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Funcionalidades </a:t>
            </a:r>
            <a:r>
              <a:rPr lang="es-EC" sz="3600" dirty="0" err="1">
                <a:solidFill>
                  <a:srgbClr val="2D2D93"/>
                </a:solidFill>
                <a:latin typeface="Barlow Condensed Medium" pitchFamily="2" charset="77"/>
              </a:rPr>
              <a:t>backend</a:t>
            </a:r>
            <a:endParaRPr lang="es-EC" sz="3600" dirty="0">
              <a:solidFill>
                <a:srgbClr val="2D2D93"/>
              </a:solidFill>
              <a:latin typeface="Barlow Condensed Medium" pitchFamily="2" charset="77"/>
            </a:endParaRPr>
          </a:p>
        </p:txBody>
      </p:sp>
      <p:sp>
        <p:nvSpPr>
          <p:cNvPr id="6" name="Cuerpo 11">
            <a:extLst>
              <a:ext uri="{FF2B5EF4-FFF2-40B4-BE49-F238E27FC236}">
                <a16:creationId xmlns:a16="http://schemas.microsoft.com/office/drawing/2014/main" id="{BBA7C2C7-D94E-13DF-9B3E-168FB1C6CE1D}"/>
              </a:ext>
            </a:extLst>
          </p:cNvPr>
          <p:cNvSpPr txBox="1"/>
          <p:nvPr/>
        </p:nvSpPr>
        <p:spPr>
          <a:xfrm>
            <a:off x="1010400" y="2866329"/>
            <a:ext cx="10171200" cy="212359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s-EC" sz="1600" dirty="0">
                <a:solidFill>
                  <a:srgbClr val="202020"/>
                </a:solidFill>
                <a:latin typeface="Arial"/>
              </a:rPr>
              <a:t>sri-anexos-estructura-service</a:t>
            </a:r>
          </a:p>
          <a:p>
            <a:pPr marL="514350" indent="-228600">
              <a:buFont typeface="Arial"/>
              <a:buChar char="–"/>
            </a:pPr>
            <a:r>
              <a:rPr lang="es-EC" sz="1400" dirty="0">
                <a:solidFill>
                  <a:srgbClr val="595959"/>
                </a:solidFill>
                <a:latin typeface="Arial"/>
              </a:rPr>
              <a:t>CRUD de la plantilla, arranca el flujo: solicita-revisión, se conecta a catálogos, alertas y habilitación</a:t>
            </a:r>
          </a:p>
          <a:p>
            <a:pPr marL="228600" indent="-228600">
              <a:buFont typeface="Arial"/>
              <a:buChar char="•"/>
            </a:pPr>
            <a:r>
              <a:rPr lang="es-EC" sz="1600" dirty="0" err="1">
                <a:solidFill>
                  <a:srgbClr val="202020"/>
                </a:solidFill>
                <a:latin typeface="Arial"/>
              </a:rPr>
              <a:t>sri</a:t>
            </a:r>
            <a:r>
              <a:rPr lang="es-EC" sz="1600" dirty="0">
                <a:solidFill>
                  <a:srgbClr val="202020"/>
                </a:solidFill>
                <a:latin typeface="Arial"/>
              </a:rPr>
              <a:t>-anexos-</a:t>
            </a:r>
            <a:r>
              <a:rPr lang="es-EC" sz="1600" dirty="0" err="1">
                <a:solidFill>
                  <a:srgbClr val="202020"/>
                </a:solidFill>
                <a:latin typeface="Arial"/>
              </a:rPr>
              <a:t>habilitacion</a:t>
            </a:r>
            <a:r>
              <a:rPr lang="es-EC" sz="1600" dirty="0">
                <a:solidFill>
                  <a:srgbClr val="202020"/>
                </a:solidFill>
                <a:latin typeface="Arial"/>
              </a:rPr>
              <a:t>-</a:t>
            </a:r>
            <a:r>
              <a:rPr lang="es-EC" sz="1600" dirty="0" err="1">
                <a:solidFill>
                  <a:srgbClr val="202020"/>
                </a:solidFill>
                <a:latin typeface="Arial"/>
              </a:rPr>
              <a:t>service</a:t>
            </a:r>
            <a:endParaRPr lang="es-EC" sz="1600" dirty="0">
              <a:solidFill>
                <a:srgbClr val="202020"/>
              </a:solidFill>
              <a:latin typeface="Arial"/>
            </a:endParaRPr>
          </a:p>
          <a:p>
            <a:pPr marL="514350" indent="-228600">
              <a:buFont typeface="Arial"/>
              <a:buChar char="–"/>
            </a:pPr>
            <a:r>
              <a:rPr lang="es-EC" sz="1400" dirty="0">
                <a:solidFill>
                  <a:srgbClr val="595959"/>
                </a:solidFill>
                <a:latin typeface="Arial"/>
              </a:rPr>
              <a:t>Flujo de transiciones de estado de la plantilla (aprueba / rechaza / publica) y obtiene el historial de cambios de estado</a:t>
            </a:r>
            <a:endParaRPr lang="es-EC" sz="1400" b="0" dirty="0">
              <a:solidFill>
                <a:srgbClr val="595959"/>
              </a:solidFill>
              <a:latin typeface="Arial"/>
            </a:endParaRPr>
          </a:p>
          <a:p>
            <a:pPr marL="228600" indent="-228600">
              <a:buFont typeface="Arial"/>
              <a:buChar char="•"/>
            </a:pPr>
            <a:r>
              <a:rPr lang="es-EC" sz="1600" dirty="0" err="1">
                <a:solidFill>
                  <a:srgbClr val="202020"/>
                </a:solidFill>
                <a:latin typeface="Arial"/>
              </a:rPr>
              <a:t>sri</a:t>
            </a:r>
            <a:r>
              <a:rPr lang="es-EC" sz="1600" dirty="0">
                <a:solidFill>
                  <a:srgbClr val="202020"/>
                </a:solidFill>
                <a:latin typeface="Arial"/>
              </a:rPr>
              <a:t>-anexos-</a:t>
            </a:r>
            <a:r>
              <a:rPr lang="es-EC" sz="1600" dirty="0" err="1">
                <a:solidFill>
                  <a:srgbClr val="202020"/>
                </a:solidFill>
                <a:latin typeface="Arial"/>
              </a:rPr>
              <a:t>catalogos</a:t>
            </a:r>
            <a:r>
              <a:rPr lang="es-EC" sz="1600" dirty="0">
                <a:solidFill>
                  <a:srgbClr val="202020"/>
                </a:solidFill>
                <a:latin typeface="Arial"/>
              </a:rPr>
              <a:t>-</a:t>
            </a:r>
            <a:r>
              <a:rPr lang="es-EC" sz="1600" dirty="0" err="1">
                <a:solidFill>
                  <a:srgbClr val="202020"/>
                </a:solidFill>
                <a:latin typeface="Arial"/>
              </a:rPr>
              <a:t>service</a:t>
            </a:r>
            <a:endParaRPr lang="es-EC" sz="1600" dirty="0">
              <a:solidFill>
                <a:srgbClr val="202020"/>
              </a:solidFill>
              <a:latin typeface="Arial"/>
            </a:endParaRPr>
          </a:p>
          <a:p>
            <a:pPr marL="514350" indent="-228600">
              <a:buFont typeface="Arial"/>
              <a:buChar char="–"/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Catálogos de apoyo, como los operativos, campos de información y mensajes, y es c</a:t>
            </a:r>
            <a:r>
              <a:rPr lang="es-EC" sz="1400" dirty="0">
                <a:solidFill>
                  <a:srgbClr val="595959"/>
                </a:solidFill>
                <a:latin typeface="Arial"/>
              </a:rPr>
              <a:t>onsumido por estructura-</a:t>
            </a:r>
            <a:r>
              <a:rPr lang="es-EC" sz="1400" dirty="0" err="1">
                <a:solidFill>
                  <a:srgbClr val="595959"/>
                </a:solidFill>
                <a:latin typeface="Arial"/>
              </a:rPr>
              <a:t>service</a:t>
            </a:r>
            <a:endParaRPr lang="es-EC" sz="1400" dirty="0">
              <a:solidFill>
                <a:srgbClr val="595959"/>
              </a:solidFill>
              <a:latin typeface="Arial"/>
            </a:endParaRPr>
          </a:p>
          <a:p>
            <a:pPr marL="228600" indent="-228600">
              <a:buFont typeface="Arial"/>
              <a:buChar char="•"/>
            </a:pPr>
            <a:r>
              <a:rPr lang="es-EC" sz="1600" dirty="0" err="1">
                <a:solidFill>
                  <a:srgbClr val="202020"/>
                </a:solidFill>
                <a:latin typeface="Arial"/>
              </a:rPr>
              <a:t>sri</a:t>
            </a:r>
            <a:r>
              <a:rPr lang="es-EC" sz="1600" dirty="0">
                <a:solidFill>
                  <a:srgbClr val="202020"/>
                </a:solidFill>
                <a:latin typeface="Arial"/>
              </a:rPr>
              <a:t>-</a:t>
            </a:r>
            <a:r>
              <a:rPr lang="es-EC" sz="1600" dirty="0" err="1">
                <a:solidFill>
                  <a:srgbClr val="202020"/>
                </a:solidFill>
                <a:latin typeface="Arial"/>
              </a:rPr>
              <a:t>autorizacion</a:t>
            </a:r>
            <a:r>
              <a:rPr lang="es-EC" sz="1600" dirty="0">
                <a:solidFill>
                  <a:srgbClr val="202020"/>
                </a:solidFill>
                <a:latin typeface="Arial"/>
              </a:rPr>
              <a:t>-api </a:t>
            </a:r>
          </a:p>
          <a:p>
            <a:pPr marL="514350" indent="-228600">
              <a:buFont typeface="Arial"/>
              <a:buChar char="–"/>
            </a:pPr>
            <a:r>
              <a:rPr lang="es-EC" sz="1400" dirty="0">
                <a:solidFill>
                  <a:srgbClr val="595959"/>
                </a:solidFill>
                <a:latin typeface="Arial"/>
              </a:rPr>
              <a:t>Autoriza, perfiles, módulos y menús, No es "autenticación" (eso lo hace </a:t>
            </a:r>
            <a:r>
              <a:rPr lang="es-EC" sz="1400" dirty="0" err="1">
                <a:solidFill>
                  <a:srgbClr val="595959"/>
                </a:solidFill>
                <a:latin typeface="Arial"/>
              </a:rPr>
              <a:t>Keycloak</a:t>
            </a:r>
            <a:r>
              <a:rPr lang="es-EC" sz="1400" dirty="0">
                <a:solidFill>
                  <a:srgbClr val="595959"/>
                </a:solidFill>
                <a:latin typeface="Arial"/>
              </a:rPr>
              <a:t>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A54EE7F-B3A4-ED18-4227-D42FAA49A768}"/>
              </a:ext>
            </a:extLst>
          </p:cNvPr>
          <p:cNvSpPr txBox="1"/>
          <p:nvPr/>
        </p:nvSpPr>
        <p:spPr>
          <a:xfrm>
            <a:off x="1010400" y="4922587"/>
            <a:ext cx="571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Ciclo de estados de una plantilla</a:t>
            </a:r>
          </a:p>
        </p:txBody>
      </p:sp>
      <p:sp>
        <p:nvSpPr>
          <p:cNvPr id="12" name="Cuerpo 11">
            <a:extLst>
              <a:ext uri="{FF2B5EF4-FFF2-40B4-BE49-F238E27FC236}">
                <a16:creationId xmlns:a16="http://schemas.microsoft.com/office/drawing/2014/main" id="{40AE8EFD-C3F0-2957-F523-43916A83D311}"/>
              </a:ext>
            </a:extLst>
          </p:cNvPr>
          <p:cNvSpPr txBox="1"/>
          <p:nvPr/>
        </p:nvSpPr>
        <p:spPr>
          <a:xfrm>
            <a:off x="1010400" y="5568918"/>
            <a:ext cx="10171200" cy="1121375"/>
          </a:xfrm>
          <a:prstGeom prst="rect">
            <a:avLst/>
          </a:prstGeom>
          <a:noFill/>
        </p:spPr>
        <p:txBody>
          <a:bodyPr wrap="square" rtlCol="0" anchor="t">
            <a:normAutofit fontScale="92500" lnSpcReduction="10000"/>
          </a:bodyPr>
          <a:lstStyle/>
          <a:p>
            <a:pPr marL="228600" indent="-228600">
              <a:buFont typeface="Arial"/>
              <a:buChar char="•"/>
            </a:pPr>
            <a:r>
              <a:rPr lang="es-EC" sz="1600" dirty="0">
                <a:solidFill>
                  <a:srgbClr val="202020"/>
                </a:solidFill>
                <a:latin typeface="Arial"/>
              </a:rPr>
              <a:t>CON</a:t>
            </a:r>
            <a:r>
              <a:rPr lang="es-EC" sz="1600" b="0" dirty="0">
                <a:solidFill>
                  <a:srgbClr val="202020"/>
                </a:solidFill>
                <a:latin typeface="Arial"/>
              </a:rPr>
              <a:t> </a:t>
            </a:r>
            <a:r>
              <a:rPr lang="es-EC" sz="1500" dirty="0">
                <a:solidFill>
                  <a:srgbClr val="595959"/>
                </a:solidFill>
                <a:latin typeface="Arial"/>
              </a:rPr>
              <a:t>(Construcción) </a:t>
            </a:r>
            <a:r>
              <a:rPr lang="es-EC" sz="1600" b="0" dirty="0">
                <a:solidFill>
                  <a:srgbClr val="202020"/>
                </a:solidFill>
                <a:latin typeface="Arial"/>
              </a:rPr>
              <a:t>→ </a:t>
            </a:r>
            <a:r>
              <a:rPr lang="es-EC" sz="1500" dirty="0">
                <a:solidFill>
                  <a:srgbClr val="595959"/>
                </a:solidFill>
                <a:latin typeface="Arial"/>
              </a:rPr>
              <a:t>MOD</a:t>
            </a:r>
            <a:r>
              <a:rPr lang="es-EC" sz="1600" b="0" dirty="0">
                <a:solidFill>
                  <a:srgbClr val="202020"/>
                </a:solidFill>
                <a:latin typeface="Arial"/>
              </a:rPr>
              <a:t> </a:t>
            </a:r>
            <a:r>
              <a:rPr lang="es-EC" sz="1500" dirty="0">
                <a:solidFill>
                  <a:srgbClr val="595959"/>
                </a:solidFill>
                <a:latin typeface="Arial"/>
              </a:rPr>
              <a:t>(Modificación) </a:t>
            </a:r>
            <a:r>
              <a:rPr lang="es-EC" sz="1600" b="0" dirty="0">
                <a:solidFill>
                  <a:srgbClr val="202020"/>
                </a:solidFill>
                <a:latin typeface="Arial"/>
              </a:rPr>
              <a:t>→ </a:t>
            </a:r>
            <a:r>
              <a:rPr lang="es-EC" sz="1600" dirty="0">
                <a:solidFill>
                  <a:srgbClr val="202020"/>
                </a:solidFill>
                <a:latin typeface="Arial"/>
              </a:rPr>
              <a:t>REV</a:t>
            </a:r>
            <a:r>
              <a:rPr lang="es-EC" sz="1600" b="0" dirty="0">
                <a:solidFill>
                  <a:srgbClr val="202020"/>
                </a:solidFill>
                <a:latin typeface="Arial"/>
              </a:rPr>
              <a:t> </a:t>
            </a:r>
            <a:r>
              <a:rPr lang="es-EC" sz="1500" dirty="0">
                <a:solidFill>
                  <a:srgbClr val="595959"/>
                </a:solidFill>
                <a:latin typeface="Arial"/>
              </a:rPr>
              <a:t>(En revisión)</a:t>
            </a:r>
          </a:p>
          <a:p>
            <a:pPr marL="228600" indent="-228600">
              <a:buFont typeface="Arial"/>
              <a:buChar char="•"/>
            </a:pPr>
            <a:r>
              <a:rPr lang="es-EC" sz="1600" dirty="0">
                <a:solidFill>
                  <a:srgbClr val="202020"/>
                </a:solidFill>
                <a:latin typeface="Arial"/>
              </a:rPr>
              <a:t>REV</a:t>
            </a:r>
            <a:r>
              <a:rPr lang="es-EC" sz="1600" b="0" dirty="0">
                <a:solidFill>
                  <a:srgbClr val="202020"/>
                </a:solidFill>
                <a:latin typeface="Arial"/>
              </a:rPr>
              <a:t> → </a:t>
            </a:r>
            <a:r>
              <a:rPr lang="es-EC" sz="1600" dirty="0">
                <a:solidFill>
                  <a:srgbClr val="202020"/>
                </a:solidFill>
                <a:latin typeface="Arial"/>
              </a:rPr>
              <a:t>APR</a:t>
            </a:r>
            <a:r>
              <a:rPr lang="es-EC" sz="1600" b="0" dirty="0">
                <a:solidFill>
                  <a:srgbClr val="202020"/>
                </a:solidFill>
                <a:latin typeface="Arial"/>
              </a:rPr>
              <a:t> </a:t>
            </a:r>
            <a:r>
              <a:rPr lang="es-EC" sz="1500" dirty="0">
                <a:solidFill>
                  <a:srgbClr val="595959"/>
                </a:solidFill>
                <a:latin typeface="Arial"/>
              </a:rPr>
              <a:t>(Aprobada) </a:t>
            </a:r>
            <a:r>
              <a:rPr lang="es-EC" sz="1600" b="0" dirty="0">
                <a:solidFill>
                  <a:srgbClr val="202020"/>
                </a:solidFill>
                <a:latin typeface="Arial"/>
              </a:rPr>
              <a:t>→ </a:t>
            </a:r>
            <a:r>
              <a:rPr lang="es-EC" sz="1600" dirty="0">
                <a:solidFill>
                  <a:srgbClr val="202020"/>
                </a:solidFill>
                <a:latin typeface="Arial"/>
              </a:rPr>
              <a:t>PUB</a:t>
            </a:r>
            <a:r>
              <a:rPr lang="es-EC" sz="1600" b="0" dirty="0">
                <a:solidFill>
                  <a:srgbClr val="202020"/>
                </a:solidFill>
                <a:latin typeface="Arial"/>
              </a:rPr>
              <a:t> </a:t>
            </a:r>
            <a:r>
              <a:rPr lang="es-EC" sz="1500" dirty="0">
                <a:solidFill>
                  <a:srgbClr val="595959"/>
                </a:solidFill>
                <a:latin typeface="Arial"/>
              </a:rPr>
              <a:t>(Publicada)</a:t>
            </a:r>
          </a:p>
          <a:p>
            <a:pPr marL="228600" indent="-228600">
              <a:buFont typeface="Arial"/>
              <a:buChar char="•"/>
            </a:pPr>
            <a:r>
              <a:rPr lang="es-EC" sz="1600" dirty="0">
                <a:solidFill>
                  <a:srgbClr val="202020"/>
                </a:solidFill>
                <a:latin typeface="Arial"/>
              </a:rPr>
              <a:t>REV</a:t>
            </a:r>
            <a:r>
              <a:rPr lang="es-EC" sz="1600" b="0" dirty="0">
                <a:solidFill>
                  <a:srgbClr val="202020"/>
                </a:solidFill>
                <a:latin typeface="Arial"/>
              </a:rPr>
              <a:t> → </a:t>
            </a:r>
            <a:r>
              <a:rPr lang="es-EC" sz="1600" dirty="0">
                <a:solidFill>
                  <a:srgbClr val="202020"/>
                </a:solidFill>
                <a:latin typeface="Arial"/>
              </a:rPr>
              <a:t>MOD</a:t>
            </a:r>
            <a:r>
              <a:rPr lang="es-EC" sz="1600" b="0" dirty="0">
                <a:solidFill>
                  <a:srgbClr val="202020"/>
                </a:solidFill>
                <a:latin typeface="Arial"/>
              </a:rPr>
              <a:t> </a:t>
            </a:r>
            <a:r>
              <a:rPr lang="es-EC" sz="1500" dirty="0">
                <a:solidFill>
                  <a:srgbClr val="595959"/>
                </a:solidFill>
                <a:latin typeface="Arial"/>
              </a:rPr>
              <a:t>(Rechazada, vuelve a modificación)</a:t>
            </a:r>
          </a:p>
          <a:p>
            <a:pPr marL="228600" indent="-228600">
              <a:buFont typeface="Arial"/>
              <a:buChar char="•"/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El frontend llama estas transiciones de estados sobre habilitación-service, que internamente se comunica con estructura-</a:t>
            </a:r>
            <a:r>
              <a:rPr lang="es-EC" sz="1600" b="0" dirty="0" err="1">
                <a:solidFill>
                  <a:srgbClr val="202020"/>
                </a:solidFill>
                <a:latin typeface="Arial"/>
              </a:rPr>
              <a:t>service</a:t>
            </a:r>
            <a:endParaRPr lang="es-EC" sz="1600" b="0" dirty="0">
              <a:solidFill>
                <a:srgbClr val="20202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0188-863E-B4DF-9583-26376E48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elogramo 1">
            <a:extLst>
              <a:ext uri="{FF2B5EF4-FFF2-40B4-BE49-F238E27FC236}">
                <a16:creationId xmlns:a16="http://schemas.microsoft.com/office/drawing/2014/main" id="{A2ABDF0C-3B02-1F90-DF2A-3726AD73EA58}"/>
              </a:ext>
            </a:extLst>
          </p:cNvPr>
          <p:cNvSpPr/>
          <p:nvPr/>
        </p:nvSpPr>
        <p:spPr>
          <a:xfrm>
            <a:off x="1296000" y="2650000"/>
            <a:ext cx="9600000" cy="1150000"/>
          </a:xfrm>
          <a:prstGeom prst="parallelogram">
            <a:avLst/>
          </a:prstGeom>
          <a:solidFill>
            <a:srgbClr val="FFC7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DF8E9C-8BDB-E800-B2F3-457715473971}"/>
              </a:ext>
            </a:extLst>
          </p:cNvPr>
          <p:cNvSpPr txBox="1"/>
          <p:nvPr/>
        </p:nvSpPr>
        <p:spPr>
          <a:xfrm>
            <a:off x="1296000" y="2680000"/>
            <a:ext cx="96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3600" b="1" i="1" dirty="0">
                <a:solidFill>
                  <a:srgbClr val="2D2D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SSO, Keycloak y esquema bearer-only</a:t>
            </a:r>
          </a:p>
        </p:txBody>
      </p:sp>
    </p:spTree>
    <p:extLst>
      <p:ext uri="{BB962C8B-B14F-4D97-AF65-F5344CB8AC3E}">
        <p14:creationId xmlns:p14="http://schemas.microsoft.com/office/powerpoint/2010/main" val="3696544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E710-B1E2-3597-B28E-A3B6C375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85F2D9-2C90-71C2-6960-072BCDE4F2F9}"/>
              </a:ext>
            </a:extLst>
          </p:cNvPr>
          <p:cNvSpPr txBox="1"/>
          <p:nvPr/>
        </p:nvSpPr>
        <p:spPr>
          <a:xfrm>
            <a:off x="1010400" y="195139"/>
            <a:ext cx="6094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Clientes Keycloak</a:t>
            </a:r>
          </a:p>
        </p:txBody>
      </p:sp>
      <p:sp>
        <p:nvSpPr>
          <p:cNvPr id="10" name="Kicker 10"/>
          <p:cNvSpPr txBox="1"/>
          <p:nvPr/>
        </p:nvSpPr>
        <p:spPr>
          <a:xfrm>
            <a:off x="1010400" y="0"/>
            <a:ext cx="10171200" cy="3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1100" b="1" spc="100" dirty="0">
                <a:solidFill>
                  <a:srgbClr val="E40321"/>
                </a:solidFill>
                <a:latin typeface="Arial"/>
              </a:rPr>
              <a:t>SSO</a:t>
            </a:r>
          </a:p>
        </p:txBody>
      </p:sp>
      <p:sp>
        <p:nvSpPr>
          <p:cNvPr id="11" name="Cuerpo 11"/>
          <p:cNvSpPr txBox="1"/>
          <p:nvPr/>
        </p:nvSpPr>
        <p:spPr>
          <a:xfrm>
            <a:off x="1010400" y="1050000"/>
            <a:ext cx="10171200" cy="220526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s-EC" sz="1600" dirty="0" err="1">
                <a:solidFill>
                  <a:srgbClr val="202020"/>
                </a:solidFill>
                <a:latin typeface="Arial"/>
              </a:rPr>
              <a:t>Frontend</a:t>
            </a:r>
            <a:r>
              <a:rPr lang="es-EC" sz="1600" dirty="0">
                <a:solidFill>
                  <a:srgbClr val="202020"/>
                </a:solidFill>
                <a:latin typeface="Arial"/>
              </a:rPr>
              <a:t> - cliente interactivo login</a:t>
            </a:r>
          </a:p>
          <a:p>
            <a:pPr marL="514350" indent="-228600">
              <a:buFont typeface="Arial"/>
              <a:buChar char="–"/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onLoad: 'login-required' — redirige a login</a:t>
            </a:r>
          </a:p>
          <a:p>
            <a:pPr marL="514350" indent="-228600">
              <a:buFont typeface="Arial"/>
              <a:buChar char="–"/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TokenInterceptor.js renueva el token y agrega Authorization: Bearer</a:t>
            </a:r>
          </a:p>
          <a:p>
            <a:pPr marL="514350" indent="-228600">
              <a:buFont typeface="Arial"/>
              <a:buChar char="–"/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Cierre por inactividad (v-idle-3)</a:t>
            </a:r>
          </a:p>
          <a:p>
            <a:pPr marL="285750"/>
            <a:endParaRPr lang="es-EC" sz="1400" b="0" dirty="0">
              <a:solidFill>
                <a:srgbClr val="595959"/>
              </a:solidFill>
              <a:latin typeface="Arial"/>
            </a:endParaRPr>
          </a:p>
          <a:p>
            <a:pPr marL="228600" indent="-228600">
              <a:buFont typeface="Arial"/>
              <a:buChar char="•"/>
            </a:pPr>
            <a:r>
              <a:rPr lang="es-EC" sz="1600" dirty="0" err="1">
                <a:solidFill>
                  <a:srgbClr val="202020"/>
                </a:solidFill>
                <a:latin typeface="Arial"/>
              </a:rPr>
              <a:t>Backends</a:t>
            </a:r>
            <a:r>
              <a:rPr lang="es-EC" sz="1600" dirty="0">
                <a:solidFill>
                  <a:srgbClr val="202020"/>
                </a:solidFill>
                <a:latin typeface="Arial"/>
              </a:rPr>
              <a:t> - cliente </a:t>
            </a:r>
            <a:r>
              <a:rPr lang="es-EC" sz="1600" dirty="0" err="1">
                <a:solidFill>
                  <a:srgbClr val="202020"/>
                </a:solidFill>
                <a:latin typeface="Arial"/>
              </a:rPr>
              <a:t>bearer-only</a:t>
            </a:r>
            <a:endParaRPr lang="es-EC" sz="1600" dirty="0">
              <a:solidFill>
                <a:srgbClr val="202020"/>
              </a:solidFill>
              <a:latin typeface="Arial"/>
            </a:endParaRPr>
          </a:p>
          <a:p>
            <a:pPr marL="514350" indent="-228600">
              <a:buFont typeface="Arial"/>
              <a:buChar char="–"/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Configuración </a:t>
            </a:r>
            <a:r>
              <a:rPr lang="es-EC" sz="1400" dirty="0">
                <a:solidFill>
                  <a:srgbClr val="595959"/>
                </a:solidFill>
                <a:latin typeface="Arial"/>
              </a:rPr>
              <a:t>en </a:t>
            </a:r>
            <a:r>
              <a:rPr lang="es-EC" sz="1400" dirty="0" err="1">
                <a:solidFill>
                  <a:srgbClr val="595959"/>
                </a:solidFill>
                <a:latin typeface="Arial"/>
              </a:rPr>
              <a:t>application.properties</a:t>
            </a:r>
            <a:r>
              <a:rPr lang="es-EC" sz="1400" dirty="0">
                <a:solidFill>
                  <a:srgbClr val="595959"/>
                </a:solidFill>
                <a:latin typeface="Arial"/>
              </a:rPr>
              <a:t> con </a:t>
            </a:r>
            <a:r>
              <a:rPr lang="es-EC" sz="1400" b="0" dirty="0" err="1">
                <a:solidFill>
                  <a:srgbClr val="595959"/>
                </a:solidFill>
                <a:latin typeface="Arial"/>
              </a:rPr>
              <a:t>quarkus.oidc.application-type</a:t>
            </a:r>
            <a:r>
              <a:rPr lang="es-EC" sz="1400" b="0" dirty="0">
                <a:solidFill>
                  <a:srgbClr val="595959"/>
                </a:solidFill>
                <a:latin typeface="Arial"/>
              </a:rPr>
              <a:t>=</a:t>
            </a:r>
            <a:r>
              <a:rPr lang="es-EC" sz="1400" b="0" dirty="0" err="1">
                <a:solidFill>
                  <a:srgbClr val="595959"/>
                </a:solidFill>
                <a:latin typeface="Arial"/>
              </a:rPr>
              <a:t>service</a:t>
            </a:r>
            <a:endParaRPr lang="es-EC" sz="1400" b="0" dirty="0">
              <a:solidFill>
                <a:srgbClr val="595959"/>
              </a:solidFill>
              <a:latin typeface="Arial"/>
            </a:endParaRPr>
          </a:p>
          <a:p>
            <a:pPr marL="514350" indent="-228600">
              <a:buFont typeface="Arial"/>
              <a:buChar char="–"/>
            </a:pPr>
            <a:r>
              <a:rPr lang="es-EC" sz="1400" b="0" dirty="0">
                <a:solidFill>
                  <a:srgbClr val="595959"/>
                </a:solidFill>
                <a:latin typeface="Arial"/>
              </a:rPr>
              <a:t>Configuración de variables de entorno para Client-id y </a:t>
            </a:r>
            <a:r>
              <a:rPr lang="es-EC" sz="1400" b="0" dirty="0" err="1">
                <a:solidFill>
                  <a:srgbClr val="595959"/>
                </a:solidFill>
                <a:latin typeface="Arial"/>
              </a:rPr>
              <a:t>secret</a:t>
            </a:r>
            <a:endParaRPr lang="es-EC" sz="1400" b="0" dirty="0">
              <a:solidFill>
                <a:srgbClr val="595959"/>
              </a:solidFill>
              <a:latin typeface="Arial"/>
            </a:endParaRPr>
          </a:p>
          <a:p>
            <a:pPr marL="514350" indent="-228600">
              <a:buFont typeface="Arial"/>
              <a:buChar char="–"/>
            </a:pPr>
            <a:r>
              <a:rPr lang="es-EC" sz="1400" dirty="0">
                <a:solidFill>
                  <a:srgbClr val="595959"/>
                </a:solidFill>
                <a:latin typeface="Arial"/>
              </a:rPr>
              <a:t>Solo valida el JWT recibido, sin login</a:t>
            </a:r>
          </a:p>
          <a:p>
            <a:pPr marL="285750"/>
            <a:endParaRPr lang="es-EC" sz="1400" b="0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084A415-A35A-0D8B-5049-4F836F2444AB}"/>
              </a:ext>
            </a:extLst>
          </p:cNvPr>
          <p:cNvSpPr txBox="1"/>
          <p:nvPr/>
        </p:nvSpPr>
        <p:spPr>
          <a:xfrm>
            <a:off x="1010400" y="3542994"/>
            <a:ext cx="689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600" dirty="0">
                <a:solidFill>
                  <a:srgbClr val="2D2D93"/>
                </a:solidFill>
                <a:latin typeface="Barlow Condensed Medium" pitchFamily="2" charset="77"/>
              </a:rPr>
              <a:t>Flujo del esquema de seguridad</a:t>
            </a:r>
          </a:p>
        </p:txBody>
      </p:sp>
      <p:sp>
        <p:nvSpPr>
          <p:cNvPr id="6" name="Cuerpo 11">
            <a:extLst>
              <a:ext uri="{FF2B5EF4-FFF2-40B4-BE49-F238E27FC236}">
                <a16:creationId xmlns:a16="http://schemas.microsoft.com/office/drawing/2014/main" id="{384EFE61-0812-E899-F66D-DC0413E07C96}"/>
              </a:ext>
            </a:extLst>
          </p:cNvPr>
          <p:cNvSpPr txBox="1"/>
          <p:nvPr/>
        </p:nvSpPr>
        <p:spPr>
          <a:xfrm>
            <a:off x="1010400" y="4407408"/>
            <a:ext cx="10171200" cy="174259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Un único realm Keycloak: "Intranet"</a:t>
            </a:r>
          </a:p>
          <a:p>
            <a:pPr marL="228600" indent="-228600">
              <a:buFont typeface="Arial"/>
              <a:buChar char="•"/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El frontend obtiene el token vía login mediante cliente web</a:t>
            </a:r>
          </a:p>
          <a:p>
            <a:pPr marL="228600" indent="-228600">
              <a:buFont typeface="Arial"/>
              <a:buChar char="•"/>
            </a:pPr>
            <a:r>
              <a:rPr lang="es-EC" sz="1600" b="0" dirty="0">
                <a:solidFill>
                  <a:srgbClr val="202020"/>
                </a:solidFill>
                <a:latin typeface="Arial"/>
              </a:rPr>
              <a:t>Cada backend valida el token (audience = su propio client-id)</a:t>
            </a:r>
          </a:p>
          <a:p>
            <a:pPr marL="228600" indent="-228600">
              <a:buFont typeface="Arial"/>
              <a:buChar char="•"/>
            </a:pPr>
            <a:r>
              <a:rPr lang="es-EC" sz="1600" dirty="0">
                <a:solidFill>
                  <a:srgbClr val="202020"/>
                </a:solidFill>
                <a:latin typeface="Arial"/>
              </a:rPr>
              <a:t>Los microservicios </a:t>
            </a:r>
            <a:r>
              <a:rPr lang="es-EC" sz="1600" b="0" dirty="0">
                <a:solidFill>
                  <a:srgbClr val="202020"/>
                </a:solidFill>
                <a:latin typeface="Arial"/>
              </a:rPr>
              <a:t>(autorización, catálogos, estructura, habilitación) siguen el mismo esquema bearer-only, configurado en </a:t>
            </a:r>
            <a:r>
              <a:rPr lang="es-EC" sz="1600" b="0" dirty="0" err="1">
                <a:solidFill>
                  <a:srgbClr val="202020"/>
                </a:solidFill>
                <a:latin typeface="Arial"/>
              </a:rPr>
              <a:t>application.properties</a:t>
            </a:r>
            <a:endParaRPr lang="es-EC" sz="1600" b="0" dirty="0">
              <a:solidFill>
                <a:srgbClr val="20202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1477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B43DB-0DC3-5492-6979-F9E64B8C9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ierre titulo"/>
          <p:cNvSpPr txBox="1"/>
          <p:nvPr/>
        </p:nvSpPr>
        <p:spPr>
          <a:xfrm>
            <a:off x="1010400" y="1173536"/>
            <a:ext cx="9600000" cy="9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s-EC" sz="4400" b="1" dirty="0">
                <a:solidFill>
                  <a:srgbClr val="0000A4"/>
                </a:solidFill>
                <a:latin typeface="Arial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6268186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755</Words>
  <Application>Microsoft Office PowerPoint</Application>
  <PresentationFormat>Panorámica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Barlow Condensed Medium</vt:lpstr>
      <vt:lpstr>Calibri</vt:lpstr>
      <vt:lpstr>Calibri Light</vt:lpstr>
      <vt:lpstr>Montserrat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Anchundia Valencia, Carlos Eduardo</cp:lastModifiedBy>
  <cp:revision>31</cp:revision>
  <dcterms:created xsi:type="dcterms:W3CDTF">2025-06-03T13:46:12Z</dcterms:created>
  <dcterms:modified xsi:type="dcterms:W3CDTF">2026-09-21T19:46:32Z</dcterms:modified>
</cp:coreProperties>
</file>