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00" r:id="rIdSl1"/>
    <p:sldId id="301" r:id="rIdSl2"/>
    <p:sldId id="302" r:id="rIdSl3"/>
    <p:sldId id="303" r:id="rIdSl4"/>
    <p:sldId id="304" r:id="rIdSl5"/>
    <p:sldId id="305" r:id="rIdSl6"/>
    <p:sldId id="306" r:id="rIdSl7"/>
    <p:sldId id="307" r:id="rIdSl8"/>
    <p:sldId id="308" r:id="rIdSl9"/>
    <p:sldId id="309" r:id="rIdSl10"/>
    <p:sldId id="310" r:id="rIdSl11"/>
    <p:sldId id="311" r:id="rIdSl12"/>
    <p:sldId id="312" r:id="rIdSl13"/>
    <p:sldId id="313" r:id="rIdSl14"/>
    <p:sldId id="314" r:id="rIdSl15"/>
    <p:sldId id="315" r:id="rIdSl16"/>
    <p:sldId id="316" r:id="rIdSl17"/>
    <p:sldId id="317" r:id="rIdSl18"/>
    <p:sldId id="318" r:id="rIdSl19"/>
    <p:sldId id="319" r:id="rIdSl20"/>
    <p:sldId id="320" r:id="rIdSl21"/>
    <p:sldId id="321" r:id="rIdSl22"/>
    <p:sldId id="322" r:id="rIdSl23"/>
    <p:sldId id="323" r:id="rIdSl24"/>
    <p:sldId id="324" r:id="rIdSl25"/>
    <p:sldId id="325" r:id="rIdSl26"/>
    <p:sldId id="326" r:id="rIdSl2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4"/>
    <p:restoredTop sz="94694"/>
  </p:normalViewPr>
  <p:slideViewPr>
    <p:cSldViewPr snapToGrid="0">
      <p:cViewPr varScale="1">
        <p:scale>
          <a:sx n="116" d="100"/>
          <a:sy n="116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Relationship Id="rIdSl18" Type="http://schemas.openxmlformats.org/officeDocument/2006/relationships/slide" Target="slides/slide18.xml"/><Relationship Id="rIdSl19" Type="http://schemas.openxmlformats.org/officeDocument/2006/relationships/slide" Target="slides/slide19.xml"/><Relationship Id="rIdSl20" Type="http://schemas.openxmlformats.org/officeDocument/2006/relationships/slide" Target="slides/slide20.xml"/><Relationship Id="rIdSl21" Type="http://schemas.openxmlformats.org/officeDocument/2006/relationships/slide" Target="slides/slide21.xml"/><Relationship Id="rIdSl22" Type="http://schemas.openxmlformats.org/officeDocument/2006/relationships/slide" Target="slides/slide22.xml"/><Relationship Id="rIdSl23" Type="http://schemas.openxmlformats.org/officeDocument/2006/relationships/slide" Target="slides/slide23.xml"/><Relationship Id="rIdSl24" Type="http://schemas.openxmlformats.org/officeDocument/2006/relationships/slide" Target="slides/slide24.xml"/><Relationship Id="rIdSl25" Type="http://schemas.openxmlformats.org/officeDocument/2006/relationships/slide" Target="slides/slide25.xml"/><Relationship Id="rIdSl26" Type="http://schemas.openxmlformats.org/officeDocument/2006/relationships/slide" Target="slides/slide26.xml"/><Relationship Id="rIdSl27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3F93E-7217-AE40-A4DD-98A7EF3C3F2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C0D2B-3B2A-6843-8BB2-DC517C07D24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230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userDrawn="1">
  <p:cSld name="1_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4DDCB9-0C14-1109-D8B6-9D58D89E06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5778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DD9507-B36C-CD78-A925-820B36A1A5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579" y="5539319"/>
            <a:ext cx="2453821" cy="478362"/>
          </a:xfrm>
          <a:prstGeom prst="rect">
            <a:avLst/>
          </a:prstGeom>
        </p:spPr>
      </p:pic>
      <p:sp>
        <p:nvSpPr>
          <p:cNvPr id="7" name="Paralelogramo 6">
            <a:extLst>
              <a:ext uri="{FF2B5EF4-FFF2-40B4-BE49-F238E27FC236}">
                <a16:creationId xmlns:a16="http://schemas.microsoft.com/office/drawing/2014/main" id="{C60AFCCA-D482-C0D2-B5DF-7E2DCC5AF21F}"/>
              </a:ext>
            </a:extLst>
          </p:cNvPr>
          <p:cNvSpPr/>
          <p:nvPr userDrawn="1"/>
        </p:nvSpPr>
        <p:spPr>
          <a:xfrm>
            <a:off x="349321" y="-14555"/>
            <a:ext cx="4378611" cy="513708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3E0E22-15A3-5398-5037-FA11B272837D}"/>
              </a:ext>
            </a:extLst>
          </p:cNvPr>
          <p:cNvSpPr txBox="1"/>
          <p:nvPr userDrawn="1"/>
        </p:nvSpPr>
        <p:spPr>
          <a:xfrm>
            <a:off x="539286" y="57633"/>
            <a:ext cx="396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i="1" dirty="0">
                <a:solidFill>
                  <a:srgbClr val="2D2D93"/>
                </a:solidFill>
                <a:latin typeface="Montserrat" pitchFamily="2" charset="77"/>
              </a:rPr>
              <a:t>Servicio de Rentas Internas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9225C8-CD6C-7433-6A34-EB63A519A6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F36FC9-505B-A098-BADE-E8CC287F7E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0" y="1178528"/>
            <a:ext cx="7772400" cy="45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7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B26F8C-3A77-34DC-52F0-38292DAA0D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49577" cy="69478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E3DD77-2E3E-2D7F-35D4-D360DC685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7121" cy="69478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1B5288-8C35-254F-1815-EBF6F14CE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410" y="-42071"/>
            <a:ext cx="11151219" cy="70319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658302-0930-F64F-47BC-FFD1AD47FC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0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75EA27-B0AF-6126-9994-0CB4B51B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090E00-67A4-AB5E-4BCF-D3965102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A6FE85-CF0A-A61B-7166-37BA9CA3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AFB44FF-0BAE-BC6D-2A6C-16401E6BC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896"/>
            <a:ext cx="1010400" cy="42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6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AB612CF-9BAF-D60A-C3BC-BAC2682DE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444" y="0"/>
            <a:ext cx="2168978" cy="4269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219E8F2-D5BC-5E4F-B68B-6C12D2EDC6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0354" y="6339696"/>
            <a:ext cx="2632982" cy="518304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5B77C43-0BE0-958E-26E7-C8115C9A69D0}"/>
              </a:ext>
            </a:extLst>
          </p:cNvPr>
          <p:cNvGrpSpPr/>
          <p:nvPr userDrawn="1"/>
        </p:nvGrpSpPr>
        <p:grpSpPr>
          <a:xfrm>
            <a:off x="2663598" y="2388314"/>
            <a:ext cx="6864804" cy="2081373"/>
            <a:chOff x="1373066" y="2643027"/>
            <a:chExt cx="6864804" cy="208137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BBA4E28-A25A-182F-E9CD-41FB1413CF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3066" y="2806344"/>
              <a:ext cx="5331068" cy="1918056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19BF794-B675-2CD1-2CE2-5DA2646CE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34" r="5925"/>
            <a:stretch/>
          </p:blipFill>
          <p:spPr>
            <a:xfrm>
              <a:off x="6359121" y="2643027"/>
              <a:ext cx="1878749" cy="2081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849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7DE1E-0258-A075-C970-1E56A6C2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AF9BF-1403-4E19-0232-09451852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152515-F4F1-51C9-BE5A-A8106C23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DA65A-5ADA-4957-7F7C-B7918FBBA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514894-A284-E4E5-F3FF-831F0EA3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98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2782-BEED-D88D-4396-7067ED8C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E9F7E-23D6-C3AB-940C-21FC8CF7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2CC2B-361C-3E42-AD1C-E1F29D49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AC9F8-D713-D60A-C50F-C1D42BA1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2E9D3-2365-233C-4C36-ED5C14B4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5299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B0511-8BF4-75FB-FEBF-5D3D2D78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51A95-5BE1-2164-8FE9-2859E9CDB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29CED5-D6B4-EF47-4E0E-A6CD67C4D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21C6D9-10DD-7292-D50C-07FF634D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2DE3BC-DC31-A3FA-CFF5-3268D6C0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5AF61-A67A-DCBA-5D8D-C0C9D636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584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9D2B5-96AE-1614-05A5-29AF4A58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E97EAF-AFBD-6627-9CBF-47FB242C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132775-879E-DD76-F035-8E0C16D7C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BC8DC9-FC7E-03DE-6DBB-E222C0EE7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00D699-1771-8AD4-705F-56AD1CC7C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5AFEE5-319F-A2AD-E31E-3E4B9552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62BC96-8129-04A7-077D-30B1D895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850C51-FE30-CC3B-0DF8-C0FC80D8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500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7EAB0-41BF-4711-E5EB-0169309E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952A4-99B0-BB43-2129-31DF6B4B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B0B186-2E7F-A295-A698-63FA1C600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60E8C-DC55-1D75-2F59-88087753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837411-8394-7846-51A2-735BA4B1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7F727-8C63-9E62-3005-D8DE7BD9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16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FD4A5-2815-0715-BE6A-ED798C62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EFC399-02AF-F5DE-EBBB-C091BB2EA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70B8C7-91BC-E305-3D19-80305D46B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D55C8-7229-6006-65E0-9F22FC62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A83BA8-C3C0-3678-E05C-A887AE2A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71B54B-C4AC-A6B5-01FC-BD951F77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8373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2E5E9A-248B-BEE7-E138-94F035A26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96C933-7F79-E5AB-3E6A-4FB1CA391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58367-8DEE-170B-3EDD-F7B89DC7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FA7B5-431A-0B38-0BFC-DD198E62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C45648-E844-F7F9-3B5C-1755CB2E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883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ADFCD2-7EA4-D8B1-644E-6B1D3239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634A4B-6143-6207-279D-2E105AE5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07B03-9DC8-2F4D-C2E2-9CAA2F105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38E2-8CD1-214B-8036-CC600787765A}" type="datetimeFigureOut">
              <a:rPr lang="es-EC" smtClean="0"/>
              <a:t>21/8/25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88A29-2FC1-F693-B753-3254BD88B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70BCB-741F-80A7-530D-E445A5281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333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4" r:id="rId2"/>
    <p:sldLayoutId id="2147483655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53835" y="1787979"/>
            <a:ext cx="290648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Barlow Condensed Medium"/>
                <a:cs typeface="Arial" panose="020B0604020202020204" pitchFamily="34" charset="0"/>
                <a:sym typeface="Barlow Condensed Medium"/>
              </a:rPr>
              <a:t>Sistema de Gestión de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53835" y="2372714"/>
            <a:ext cx="47189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5400" b="1" dirty="0">
                <a:solidFill>
                  <a:schemeClr val="lt1"/>
                </a:solidFill>
                <a:latin typeface="Arial" panose="020B0604020202020204" pitchFamily="34" charset="0"/>
                <a:ea typeface="Barlow Condensed Medium"/>
                <a:cs typeface="Arial" panose="020B0604020202020204" pitchFamily="34" charset="0"/>
                <a:sym typeface="Barlow Condensed Medium"/>
              </a:rPr>
              <a:t>Anexos (GAN)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ubtitulo"/>
          <p:cNvSpPr txBox="1"/>
          <p:nvPr/>
        </p:nvSpPr>
        <p:spPr>
          <a:xfrm>
            <a:off x="753835" y="3550000"/>
            <a:ext cx="8500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s-EC" sz="1600" dirty="0">
                <a:solidFill>
                  <a:schemeClr val="lt1"/>
                </a:solidFill>
                <a:latin typeface="Arial"/>
              </a:rPr>
              <a:t>Transferencia de Conocimiento — Frontend, arquitectura backend, SSO e integración con microservicios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Agenda de la sesión</a:t>
            </a:r>
          </a:p>
        </p:txBody>
      </p:sp>
      <p:sp>
        <p:nvSpPr>
          <p:cNvPr id="10" name="Cuerpo 10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Visión general del sistema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Arquitectura general del ecosistema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Frontend: núcleo (core) del sistema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Módulo de plantilla y aprobación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Comunicación interna entre microservicios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SSO, Keycloak y esquema bearer-only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Los 4 microservicios backend, uno por uno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Puntos abiertos a validar por el equipo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Visión general del 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¿Qué es GAN?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VISIÓN GENERAL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Aplicación mediante la cual los usuarios diseñan plantillas de anexos/formularios.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Las plantillas pasan por un flujo de revisión y aprobación antes de publicarse.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Una sola SPA (frontend) conversa con 4 microservicios backend independientes.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Toda la autenticación se centraliza en Keycloak (realm Intranet del SRI).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Componentes principales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VISIÓN GENERAL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sri-gestion-anexos-web — Frontend (Vue 3 SPA)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Interfaz de usuario: diseño, gestión y aprobación de plantillas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sri-autorizacion-api — perfiles, módulos y menús por usuario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sri-anexos-catalogos-service — catálogos, operativos, usuarios-anexo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sri-anexos-estructura-service — CRUD y datos de la plantilla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sri-anexos-habilitacion-service — transiciones de estado y aprobación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Keycloak (realm Intranet) — autenticación centralizada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Arquitectura general del ecosistema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Patrón arquitectónico común (backends)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ARQUITECTURA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Arquitectura Hexagonal (Puertos y Adaptadores) + Clean Architecture + DDD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Quarkus 3.29 / Java 21, persistencia reactiva contra Oracle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Referencia: sri-anexos-estructura-service (mismo patrón en los 4 servicios)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infrastructure/ — REST, remote (clientes a otros microservicios), filtros, persistencia, security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application/ — servicios de caso de uso, DTOs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domain/ — modelo, reglas de negocio, puerto del repositorio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El ecosistema y el flujo de una petición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ARQUITECTURA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Frontend (Vue 3 SPA) — llama a los 4 backends con el token de Keycloak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Keycloak (realm Intranet) — emite y valida los tokens JWT de todo el ecosistema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Cada backend valida su propio token de forma independiente (bearer-only)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No se identificó un API Gateway central en esta revisión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Flujo típico: filtro de seguridad → recurso REST → servicio de aplicación → repositorio de dominio → base de datos Oracle → respuesta HTTP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Frontend: núcleo (core) del 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Stack tecnológico del frontend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CORE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42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Vue 3 (Composition API) + Vite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Pinia — estado global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PrimeVue — librería de componentes UI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Axios — cliente HTTP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keycloak-js — integración SSO</a:t>
            </a:r>
          </a:p>
        </p:txBody>
      </p:sp>
      <p:sp>
        <p:nvSpPr>
          <p:cNvPr id="12" name="Nota 12"/>
          <p:cNvSpPr/>
          <p:nvPr/>
        </p:nvSpPr>
        <p:spPr>
          <a:xfrm>
            <a:off x="1010400" y="5450000"/>
            <a:ext cx="10171200" cy="820000"/>
          </a:xfrm>
          <a:prstGeom prst="rect">
            <a:avLst/>
          </a:prstGeom>
          <a:solidFill>
            <a:srgbClr val="FFF6E5"/>
          </a:solidFill>
          <a:ln w="9525">
            <a:solidFill>
              <a:srgbClr val="B7791F"/>
            </a:solidFill>
          </a:ln>
        </p:spPr>
        <p:txBody>
          <a:bodyPr wrap="square" rtlCol="0" lIns="137160" tIns="68580" rIns="137160" bIns="68580" anchor="ctr"/>
          <a:lstStyle/>
          <a:p>
            <a:r>
              <a:rPr lang="es-EC" sz="1200" b="1" dirty="0">
                <a:solidFill>
                  <a:srgbClr val="B7791F"/>
                </a:solidFill>
              </a:rPr>
              <a:t>Por validar con el equipo:  </a:t>
            </a:r>
            <a:r>
              <a:rPr lang="es-EC" sz="1200" dirty="0">
                <a:solidFill>
                  <a:srgbClr val="202020"/>
                </a:solidFill>
              </a:rPr>
              <a:t>El proyecto NO es Angular — es Vue 3 + Vite. Organización por módulo de negocio bajo src/components/.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Piezas centrales ("core")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CORE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Sesión y seguridad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src/keycloak/keycloak.js — inicializa Keycloak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src/interceptores/TokenInterceptor.js — inyecta Bearer token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src/router/AutorizacionGuardian.js — guard de acceso por módulo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src/store/UsuarioStore.js — sesión y autorización cacheada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Transversales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src/router/RuteoBase.js — rutas con lazy loading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src/components/comun/ — tablas, filtros, diálogos reutilizables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src/components/base/ — inicio y páginas de error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Módulo de plantilla y aprobación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Flujo de negocio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PLANTILLA Y APROBACIÓN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1. Diseño — módulo diseniador: crea/edita campos y fórmulas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2. Gestión — módulo plantilla: ciclo de vida y envío a revisión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3. Aprobación — módulo aprobacion: aprobar o rechazar con comentario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¿Qué backend es dueño de qué?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PLANTILLA Y APROBACIÓN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sri-anexos-estructura-service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Dueño del dato de la plantilla: crear, obtener, actualizar, duplicar, eliminar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sri-anexos-habilitacion-service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Dueño de las transiciones de estado: aprobar, rechazar, publicar, historial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sri-anexos-catalogos-service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Catálogos de apoyo, como los operativos del usuario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Ciclo de estados de una plantilla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PLANTILLA Y APROBACIÓN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CON (Construcción) → MOD (Modificación) → REV (En revisión)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REV → APR (Aprobada) → PUB (Publicada)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REV → MOD (Rechazada, vuelve a modificación)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El frontend llama estas transiciones sobre habilitación-service, que internamente coordina con estructura-service (ver sección siguiente)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Comunicación interna entre microservicios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¿Quién llama a quién?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COMUNICACIÓN INTERNA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habilitación → estructura  (config: estructura-api)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Al aprobar/rechazar/publicar/solicitar revisión, habilitación llama de vuelta a estructura para ejecutar el cambio real, con reintentos y circuit breaker. Uso activo confirmado.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estructura → catálogos  (config: catalogos-api)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Consulta catálogos, operativos y usuarios-anexos. Uso activo confirmado.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estructura → habilitación  (config: habilitacion-api)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Cliente con pruebas unitarias propias, modificado hace 2 días; sin invocación activa detectada — parece desarrollo en curso, a confirmar.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catálogos → administración de aplicaciones  (config: adm-aplicacion, externo)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Consulta parámetros de ambiente. Mismo sistema externo que VITE_CATALOGO_ADM_URL en el frontend.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autorización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No llama a ningún otro microservicio interno: es un servicio "hoja".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El caso concreto: aprobar una plantilla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COMUNICACIÓN INTERNA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42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1. El frontend llama a habilitación-service (aprueba/rechaza/publica/solicita-revision)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2. Habilitación valida la transición y llama internamente a estructura para actualizar la plantilla (dueña del dato)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3. Habilitación registra el evento en su propio historial local (GAN_ESTADO_PLANTILLA_HISTORIAL)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4. Estructura expone endpoints equivalentes propios; no confirmado qué otro cliente los usa hoy</a:t>
            </a:r>
          </a:p>
        </p:txBody>
      </p:sp>
      <p:sp>
        <p:nvSpPr>
          <p:cNvPr id="12" name="Nota 12"/>
          <p:cNvSpPr/>
          <p:nvPr/>
        </p:nvSpPr>
        <p:spPr>
          <a:xfrm>
            <a:off x="1010400" y="5450000"/>
            <a:ext cx="10171200" cy="820000"/>
          </a:xfrm>
          <a:prstGeom prst="rect">
            <a:avLst/>
          </a:prstGeom>
          <a:solidFill>
            <a:srgbClr val="FFF6E5"/>
          </a:solidFill>
          <a:ln w="9525">
            <a:solidFill>
              <a:srgbClr val="B7791F"/>
            </a:solidFill>
          </a:ln>
        </p:spPr>
        <p:txBody>
          <a:bodyPr wrap="square" rtlCol="0" lIns="137160" tIns="68580" rIns="137160" bIns="68580" anchor="ctr"/>
          <a:lstStyle/>
          <a:p>
            <a:r>
              <a:rPr lang="es-EC" sz="1200" b="1" dirty="0">
                <a:solidFill>
                  <a:srgbClr val="B7791F"/>
                </a:solidFill>
              </a:rPr>
              <a:t>Por validar con el equipo:  </a:t>
            </a:r>
            <a:r>
              <a:rPr lang="es-EC" sz="1200" dirty="0">
                <a:solidFill>
                  <a:srgbClr val="202020"/>
                </a:solidFill>
              </a:rPr>
              <a:t>No hay duplicación de lógica: hay separación de responsabilidades (workflow/historial vs. dato maestro) coordinada por llamadas internas.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SSO, Keycloak y esquema bearer-only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Dos modos de cliente Keycloak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SSO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Frontend — cliente interactivo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onLoad: 'login-required' — redirige a login si no hay sesión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TokenInterceptor.js renueva el token y agrega Authorization: Bearer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Cierre por inactividad (v-idle-3)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Backends — bearer-only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quarkus.oidc.application-type=service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Solo valida el JWT recibido, sin login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Client-id y secret propios por servicio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Resumen del esquema de seguridad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SSO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Un único realm Keycloak: "Intranet"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El frontend obtiene el token vía login interactivo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Cada backend valida el token de forma independiente (audience = su propio client-id)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Los 4 backends de negocio (autorización, catálogos, estructura, habilitación) siguen el mismo esquema bearer-only, confirmado en su application.properties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No existe un API Gateway central identificado en esta revisión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Los microservicios backend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Autorización y catálogos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BACKENDS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sri-autorizacion-api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Perfiles, módulos y menús por usuario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GET /usuarios/{userName} — estructura autorizada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GET /perfiles/{id}/modulos y .../menus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No es "autenticación" (eso lo hace Keycloak)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sri-anexos-catalogos-service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Catálogos, detalles, operativos, usuarios-anexo, campos-info, mensajes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7 recursos REST, cada uno con su CRUD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Consumido por estructura-service vía catalogos-api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Estructura y habilitación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BACKENDS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sri-anexos-estructura-service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CRUD de la plantilla (GanPlantilla)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POST /{codigo}/duplica, GET /usuarios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Arranca el flujo: solicita-revision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Se conecta a catálogos, alertas y habilitación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1" dirty="0">
                <a:solidFill>
                  <a:srgbClr val="202020"/>
                </a:solidFill>
                <a:latin typeface="Arial"/>
              </a:rPr>
              <a:t>sri-anexos-habilitacion-service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Motor de transiciones de estado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aprueba / rechaza / publica (con comentario)</a:t>
            </a:r>
          </a:p>
          <a:p>
            <a:pPr marL="514350" indent="-228600">
              <a:buFont typeface="Arial"/>
              <a:buClr>
                <a:srgbClr val="808080"/>
              </a:buClr>
              <a:buChar char="–"/>
              <a:spcAft>
                <a:spcPts val="600"/>
              </a:spcAft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Historial paginado de cambios de estado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Puntos abiertos a validar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Para revisar en las primeras semanas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dirty="0" spc="100">
                <a:solidFill>
                  <a:srgbClr val="E40321"/>
                </a:solidFill>
                <a:latin typeface="Arial"/>
              </a:rPr>
              <a:t>PUNTOS ABIERTOS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Existe una carpeta sri-anexos-base-service aparte (TipoParametro, root-path /base/api/v1) que nadie referencia — confirmar si sigue vigente o se puede archivar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El cliente de historial de estructura hacia habilitación tiene pruebas propias y fue tocado hace 2 días, pero sin uso activo detectado — parece desarrollo en curso, confirmar con el equipo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Los endpoints propios de transición en estructura-service — confirmar qué cliente los usa hoy, además de habilitación</a:t>
            </a:r>
          </a:p>
          <a:p>
            <a:pPr marL="228600" indent="-228600">
              <a:buFont typeface="Arial"/>
              <a:buClr>
                <a:srgbClr val="E40321"/>
              </a:buClr>
              <a:buChar char="•"/>
              <a:spcAft>
                <a:spcPts val="600"/>
              </a:spcAft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README de sri-autorizacion-api dice "autenticación" — actualizar para evitar confusión, ya que en realidad es autorización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3DB-0DC3-5492-6979-F9E64B8C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ierre titulo"/>
          <p:cNvSpPr txBox="1"/>
          <p:nvPr/>
        </p:nvSpPr>
        <p:spPr>
          <a:xfrm>
            <a:off x="1010400" y="2600000"/>
            <a:ext cx="96000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4400" b="1" dirty="0">
                <a:solidFill>
                  <a:srgbClr val="0000A4"/>
                </a:solidFill>
                <a:latin typeface="Arial"/>
              </a:rPr>
              <a:t>Gracias</a:t>
            </a:r>
          </a:p>
        </p:txBody>
      </p:sp>
      <p:sp>
        <p:nvSpPr>
          <p:cNvPr id="21" name="Cierre subtitulo"/>
          <p:cNvSpPr txBox="1"/>
          <p:nvPr/>
        </p:nvSpPr>
        <p:spPr>
          <a:xfrm>
            <a:off x="1010400" y="3550000"/>
            <a:ext cx="96000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400" dirty="0">
                <a:solidFill>
                  <a:srgbClr val="404040"/>
                </a:solidFill>
                <a:latin typeface="Arial"/>
              </a:rPr>
              <a:t>Documento completo con el detalle de cada punto: GAN-Transferencia-Conocimiento.docx</a:t>
            </a:r>
          </a:p>
        </p:txBody>
      </p:sp>
    </p:spTree>
    <p:extLst>
      <p:ext uri="{BB962C8B-B14F-4D97-AF65-F5344CB8AC3E}">
        <p14:creationId xmlns:p14="http://schemas.microsoft.com/office/powerpoint/2010/main" val="1626818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</Words>
  <Application>Microsoft Macintosh PowerPoint</Application>
  <PresentationFormat>Panorámica</PresentationFormat>
  <Paragraphs>4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Barlow Condensed Medium</vt:lpstr>
      <vt:lpstr>Calibri</vt:lpstr>
      <vt:lpstr>Calibri Light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Danilo Paul Mendoza Vela</cp:lastModifiedBy>
  <cp:revision>8</cp:revision>
  <dcterms:created xsi:type="dcterms:W3CDTF">2025-06-03T13:46:12Z</dcterms:created>
  <dcterms:modified xsi:type="dcterms:W3CDTF">2025-08-21T20:05:17Z</dcterms:modified>
</cp:coreProperties>
</file>